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theme/theme1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notesMasterIdLst>
    <p:notesMasterId r:id="rId28"/>
  </p:notesMasterIdLst>
  <p:sldIdLst>
    <p:sldId id="256" r:id="rId12"/>
    <p:sldId id="258" r:id="rId13"/>
    <p:sldId id="270" r:id="rId14"/>
    <p:sldId id="259" r:id="rId15"/>
    <p:sldId id="271" r:id="rId16"/>
    <p:sldId id="260" r:id="rId17"/>
    <p:sldId id="272" r:id="rId18"/>
    <p:sldId id="261" r:id="rId19"/>
    <p:sldId id="269" r:id="rId20"/>
    <p:sldId id="262" r:id="rId21"/>
    <p:sldId id="263" r:id="rId22"/>
    <p:sldId id="264" r:id="rId23"/>
    <p:sldId id="268" r:id="rId24"/>
    <p:sldId id="265" r:id="rId25"/>
    <p:sldId id="266" r:id="rId26"/>
    <p:sldId id="267" r:id="rId27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FAD402-397F-15E3-96CF-EBE14907F6B7}" v="11" dt="2025-11-24T10:22:19.820"/>
    <p1510:client id="{38B74C9F-D8C3-B31C-240B-784F2351E9D6}" v="206" dt="2025-11-24T10:17:53.5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26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0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slide" Target="slides/slide14.xml"/><Relationship Id="rId33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0" Type="http://schemas.openxmlformats.org/officeDocument/2006/relationships/slide" Target="slides/slide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3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4.xml"/><Relationship Id="rId23" Type="http://schemas.openxmlformats.org/officeDocument/2006/relationships/slide" Target="slides/slide12.xml"/><Relationship Id="rId28" Type="http://schemas.openxmlformats.org/officeDocument/2006/relationships/notesMaster" Target="notesMasters/notesMaster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8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slide" Target="slides/slide11.xml"/><Relationship Id="rId27" Type="http://schemas.openxmlformats.org/officeDocument/2006/relationships/slide" Target="slides/slide16.xml"/><Relationship Id="rId30" Type="http://schemas.openxmlformats.org/officeDocument/2006/relationships/viewProps" Target="viewProps.xml"/><Relationship Id="rId8" Type="http://schemas.openxmlformats.org/officeDocument/2006/relationships/slideMaster" Target="slideMasters/slideMaster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Click to move the slide</a:t>
            </a: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7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71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72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3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14637E2-9324-4177-992E-4B0328487DC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2674341-B531-445F-AB8A-347D62F3CA88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A8645AF-E923-42BE-8B32-AE6CB2677F79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DB3E2F7-0888-4E25-B7BD-E18E75852FC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13F4B91-6793-4486-992C-94AF702922F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70BA745-67A7-46DF-B3A1-7E01BDF35EE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53E976A-7815-4C40-A6E4-0D787D292296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A85C7E8-AC29-476C-B9F4-A0B058EAEF81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527E540-5786-42E1-ABF3-A8B838B1FCF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6A7872B-6FCE-4204-9100-EAF752604C6F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2C083F74-2741-4A95-8FBD-9406973F4C6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69B50E34-9A57-43A8-89D9-36A86CFE192E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99C3CAFD-E86D-42D5-9EDA-1C2966FB591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 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 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CC8BDD-B1AB-4B9C-BDF7-4BFC1A7B8E05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71E346-9A81-46B0-8906-5D05A9625606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7DDAFC-B324-4DA4-B933-225ADD0DAF70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52E276-0861-4696-909C-0EC308A441C9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C508ED-F231-4FB6-9377-21B766A0D0FA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6F7F93-F91A-4ED1-BEF3-861DBBC9D87F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1A8804-CEFC-454C-8AC2-A2FE12286D54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A32A4A-B1F3-4F3A-823F-B5EC8076768B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EEF61B-90F4-48B8-8B94-80438530ACBE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Click to edit the title text format</a:t>
            </a: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32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</p:txBody>
      </p:sp>
      <p:sp>
        <p:nvSpPr>
          <p:cNvPr id="5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16AB4E-D6B1-4789-AF0E-B870B78C184D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32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Seventh Outline Level</a:t>
            </a: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</p:txBody>
      </p:sp>
      <p:sp>
        <p:nvSpPr>
          <p:cNvPr id="65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7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CA1765-F569-4630-B4ED-061796014864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Enrollment system</a:t>
            </a:r>
            <a:endParaRPr lang="en-US"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Vojto Gáborík, Veronika Kavanová, Jan Novák, Vojtěch Štěpán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Feature: Student enrollment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Worked on by Veronika </a:t>
            </a:r>
            <a:r>
              <a:rPr lang="en-US" sz="2800" b="0" strike="noStrike" spc="-1" dirty="0" err="1">
                <a:solidFill>
                  <a:schemeClr val="dk1"/>
                </a:solidFill>
                <a:latin typeface="Aptos"/>
              </a:rPr>
              <a:t>Kavanová</a:t>
            </a: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 and Jan Novák</a:t>
            </a:r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endParaRPr lang="en-US" sz="2800" spc="-1" dirty="0">
              <a:solidFill>
                <a:schemeClr val="dk1"/>
              </a:solidFill>
              <a:latin typeface="Aptos"/>
              <a:ea typeface="+mj-lt"/>
              <a:cs typeface="+mj-lt"/>
            </a:endParaRPr>
          </a:p>
          <a:p>
            <a:pPr>
              <a:buClr>
                <a:srgbClr val="000000"/>
              </a:buClr>
              <a:buFont typeface="Arial"/>
              <a:buChar char="•"/>
            </a:pP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 Allows students to log in, search for courses, and enroll into specific </a:t>
            </a:r>
            <a:r>
              <a:rPr lang="en-US" sz="2800" b="1" spc="-1" dirty="0">
                <a:solidFill>
                  <a:schemeClr val="dk1"/>
                </a:solidFill>
                <a:ea typeface="+mj-lt"/>
                <a:cs typeface="+mj-lt"/>
              </a:rPr>
              <a:t>lecture/practical tickets</a:t>
            </a: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.</a:t>
            </a:r>
            <a:endParaRPr lang="en-US" sz="2800" spc="-1" dirty="0">
              <a:solidFill>
                <a:schemeClr val="dk1"/>
              </a:solidFill>
              <a:latin typeface="Aptos"/>
            </a:endParaRPr>
          </a:p>
          <a:p>
            <a:pPr>
              <a:buFont typeface="Arial"/>
              <a:buChar char="•"/>
            </a:pP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 Handles </a:t>
            </a:r>
            <a:r>
              <a:rPr lang="en-US" sz="2800" b="1" spc="-1" dirty="0">
                <a:solidFill>
                  <a:schemeClr val="dk1"/>
                </a:solidFill>
                <a:ea typeface="+mj-lt"/>
                <a:cs typeface="+mj-lt"/>
              </a:rPr>
              <a:t>capacity checks</a:t>
            </a: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, </a:t>
            </a:r>
            <a:r>
              <a:rPr lang="en-US" sz="2800" b="1" spc="-1" dirty="0">
                <a:solidFill>
                  <a:schemeClr val="dk1"/>
                </a:solidFill>
                <a:ea typeface="+mj-lt"/>
                <a:cs typeface="+mj-lt"/>
              </a:rPr>
              <a:t>waiting lists</a:t>
            </a: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, automatic dequeuing, and </a:t>
            </a:r>
            <a:r>
              <a:rPr lang="en-US" sz="2800" b="1" spc="-1" dirty="0">
                <a:solidFill>
                  <a:schemeClr val="dk1"/>
                </a:solidFill>
                <a:ea typeface="+mj-lt"/>
                <a:cs typeface="+mj-lt"/>
              </a:rPr>
              <a:t>notifications</a:t>
            </a: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.</a:t>
            </a:r>
            <a:endParaRPr lang="en-US" dirty="0">
              <a:solidFill>
                <a:schemeClr val="dk1"/>
              </a:solidFill>
            </a:endParaRPr>
          </a:p>
          <a:p>
            <a:pPr>
              <a:buFont typeface="Arial"/>
              <a:buChar char="•"/>
            </a:pP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  Updates student’s course list, credit count, and schedule.</a:t>
            </a:r>
            <a:endParaRPr lang="en-US" dirty="0">
              <a:solidFill>
                <a:schemeClr val="dk1"/>
              </a:solidFill>
            </a:endParaRPr>
          </a:p>
          <a:p>
            <a:pPr>
              <a:buFont typeface="Arial"/>
              <a:buChar char="•"/>
            </a:pPr>
            <a:endParaRPr lang="en-US" sz="2800" spc="-1" dirty="0">
              <a:solidFill>
                <a:schemeClr val="dk1"/>
              </a:solidFill>
              <a:latin typeface="Aptos Display"/>
            </a:endParaRPr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endParaRPr lang="en-US" sz="2800" spc="-1" dirty="0">
              <a:solidFill>
                <a:schemeClr val="dk1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16FFB-3A74-12D7-7D4D-C87A4328E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dk1"/>
                </a:solidFill>
              </a:rPr>
              <a:t>Feature: Student enrollment main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74386-8D27-5056-30EE-A1E21AB1A806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09480" y="1643266"/>
            <a:ext cx="10972440" cy="4642415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Use SSO to allow students to log in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Display available lecture and practical tickets to a student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Fetch all available tickets for a course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Increase the number of attending students in a lecture or </a:t>
            </a:r>
            <a:r>
              <a:rPr lang="en-US" dirty="0" err="1">
                <a:ea typeface="+mn-lt"/>
                <a:cs typeface="+mn-lt"/>
              </a:rPr>
              <a:t>pracitcal</a:t>
            </a:r>
            <a:r>
              <a:rPr lang="en-US" dirty="0">
                <a:ea typeface="+mn-lt"/>
                <a:cs typeface="+mn-lt"/>
              </a:rPr>
              <a:t> by one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Add a student to a list of signed up students for a lecture and/or practical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Add a student to the end of a waiting queue for a lecture or practical by their identifier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Automatically sign up the first student in a waiting list to the ticket they're waiting for when there is free space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Add a new course to the student's list of courses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Add a ticket to a student's schedule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Verify, that the student is allowed to enroll based on </a:t>
            </a:r>
            <a:r>
              <a:rPr lang="en-US" dirty="0" err="1">
                <a:ea typeface="+mn-lt"/>
                <a:cs typeface="+mn-lt"/>
              </a:rPr>
              <a:t>prerequisities</a:t>
            </a:r>
            <a:r>
              <a:rPr lang="en-US" dirty="0">
                <a:ea typeface="+mn-lt"/>
                <a:cs typeface="+mn-lt"/>
              </a:rPr>
              <a:t> or study status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6977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Feature: Student enrollment cancellation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Worked on by Vojtěch Štěpán and Vojto </a:t>
            </a:r>
            <a:r>
              <a:rPr lang="en-US" sz="2800" b="0" strike="noStrike" spc="-1" dirty="0" err="1">
                <a:solidFill>
                  <a:schemeClr val="dk1"/>
                </a:solidFill>
                <a:latin typeface="Aptos"/>
              </a:rPr>
              <a:t>Gáborík</a:t>
            </a:r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endParaRPr lang="en-US" sz="2800" spc="-1" dirty="0">
              <a:solidFill>
                <a:schemeClr val="dk1"/>
              </a:solidFill>
              <a:latin typeface="Aptos"/>
            </a:endParaRPr>
          </a:p>
          <a:p>
            <a:pPr>
              <a:buClr>
                <a:srgbClr val="000000"/>
              </a:buClr>
              <a:buFont typeface="Arial"/>
              <a:buChar char="•"/>
            </a:pP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 Lets students open their schedule, view lecture/practical details, and </a:t>
            </a:r>
            <a:r>
              <a:rPr lang="en-US" sz="2800" b="1" spc="-1" dirty="0">
                <a:solidFill>
                  <a:schemeClr val="dk1"/>
                </a:solidFill>
                <a:ea typeface="+mj-lt"/>
                <a:cs typeface="+mj-lt"/>
              </a:rPr>
              <a:t>cancel enrollment</a:t>
            </a: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.</a:t>
            </a:r>
          </a:p>
          <a:p>
            <a:pPr>
              <a:buFont typeface="Arial"/>
              <a:buChar char="•"/>
            </a:pP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 Performs validation (e.g., is cancellation still allowed?).</a:t>
            </a:r>
            <a:endParaRPr lang="en-US" dirty="0">
              <a:solidFill>
                <a:schemeClr val="dk1"/>
              </a:solidFill>
              <a:ea typeface="+mj-lt"/>
              <a:cs typeface="+mj-lt"/>
            </a:endParaRPr>
          </a:p>
          <a:p>
            <a:pPr>
              <a:buFont typeface="Arial"/>
              <a:buChar char="•"/>
            </a:pP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 Updates the database and refreshes the schedule.</a:t>
            </a:r>
            <a:endParaRPr lang="en-US" dirty="0">
              <a:solidFill>
                <a:schemeClr val="dk1"/>
              </a:solidFill>
              <a:ea typeface="+mj-lt"/>
              <a:cs typeface="+mj-lt"/>
            </a:endParaRPr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endParaRPr lang="en-US" sz="2800" spc="-1" dirty="0">
              <a:solidFill>
                <a:schemeClr val="dk1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11F1F-A002-B715-2A15-4F4B19C52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dk1"/>
                </a:solidFill>
              </a:rPr>
              <a:t>Feature: Student enrollment cancellation main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7E0F7-8EBE-702F-FC72-967F6AE91118}"/>
              </a:ext>
            </a:extLst>
          </p:cNvPr>
          <p:cNvSpPr>
            <a:spLocks noGrp="1"/>
          </p:cNvSpPr>
          <p:nvPr>
            <p:ph/>
          </p:nvPr>
        </p:nvSpPr>
        <p:spPr/>
        <p:txBody>
          <a:bodyPr/>
          <a:lstStyle/>
          <a:p>
            <a:r>
              <a:rPr lang="en-US" dirty="0">
                <a:ea typeface="+mn-lt"/>
                <a:cs typeface="+mn-lt"/>
              </a:rPr>
              <a:t>display student schedule (call API of schedule module)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display lecture or practical detail (contains cancel enrollment button)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propagete</a:t>
            </a:r>
            <a:r>
              <a:rPr lang="en-US" dirty="0">
                <a:ea typeface="+mn-lt"/>
                <a:cs typeface="+mn-lt"/>
              </a:rPr>
              <a:t> information about student enrolment </a:t>
            </a:r>
            <a:r>
              <a:rPr lang="en-US" dirty="0" err="1">
                <a:ea typeface="+mn-lt"/>
                <a:cs typeface="+mn-lt"/>
              </a:rPr>
              <a:t>cancallation</a:t>
            </a:r>
            <a:r>
              <a:rPr lang="en-US" dirty="0">
                <a:ea typeface="+mn-lt"/>
                <a:cs typeface="+mn-lt"/>
              </a:rPr>
              <a:t> (update database)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check, if student can cancel enrolment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allow to set cancel enrolment conditions for students (by study department officer)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allow student to see cancel </a:t>
            </a:r>
            <a:r>
              <a:rPr lang="en-US" dirty="0" err="1">
                <a:ea typeface="+mn-lt"/>
                <a:cs typeface="+mn-lt"/>
              </a:rPr>
              <a:t>enrolement</a:t>
            </a:r>
            <a:r>
              <a:rPr lang="en-US" dirty="0">
                <a:ea typeface="+mn-lt"/>
                <a:cs typeface="+mn-lt"/>
              </a:rPr>
              <a:t> conditions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9165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 dirty="0">
                <a:solidFill>
                  <a:schemeClr val="dk1"/>
                </a:solidFill>
                <a:latin typeface="Aptos Display"/>
              </a:rPr>
              <a:t>Feature: </a:t>
            </a:r>
            <a:r>
              <a:rPr lang="en-US" spc="-1" dirty="0">
                <a:solidFill>
                  <a:schemeClr val="dk1"/>
                </a:solidFill>
                <a:latin typeface="Aptos Display"/>
              </a:rPr>
              <a:t>Enrollment</a:t>
            </a:r>
            <a:r>
              <a:rPr lang="en-US" sz="4400" b="0" strike="noStrike" spc="-1" dirty="0">
                <a:solidFill>
                  <a:schemeClr val="dk1"/>
                </a:solidFill>
                <a:latin typeface="Aptos Display"/>
              </a:rPr>
              <a:t> management</a:t>
            </a:r>
            <a:endParaRPr lang="en-US" sz="4400" b="0" strike="noStrike" spc="-1" dirty="0">
              <a:solidFill>
                <a:schemeClr val="dk1"/>
              </a:solidFill>
              <a:latin typeface="Aptos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Worked on by Jan Novák and Vojtěch Štěpán</a:t>
            </a:r>
            <a:endParaRPr lang="en-US" sz="2800">
              <a:solidFill>
                <a:schemeClr val="dk1"/>
              </a:solidFill>
            </a:endParaRPr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endParaRPr lang="en-US" sz="2800" spc="-1" dirty="0">
              <a:solidFill>
                <a:schemeClr val="dk1"/>
              </a:solidFill>
              <a:latin typeface="Aptos"/>
              <a:ea typeface="+mj-lt"/>
              <a:cs typeface="+mj-lt"/>
            </a:endParaRPr>
          </a:p>
          <a:p>
            <a:pPr>
              <a:buClr>
                <a:srgbClr val="000000"/>
              </a:buClr>
              <a:buFont typeface="Arial"/>
              <a:buChar char="•"/>
            </a:pPr>
            <a:r>
              <a:rPr lang="en-US" sz="2800" dirty="0">
                <a:ea typeface="+mj-lt"/>
                <a:cs typeface="+mj-lt"/>
              </a:rPr>
              <a:t> Allows study officers to manually </a:t>
            </a:r>
            <a:r>
              <a:rPr lang="en-US" sz="2800" b="1" dirty="0">
                <a:ea typeface="+mj-lt"/>
                <a:cs typeface="+mj-lt"/>
              </a:rPr>
              <a:t>enroll or unenroll</a:t>
            </a:r>
            <a:r>
              <a:rPr lang="en-US" sz="2800" dirty="0">
                <a:ea typeface="+mj-lt"/>
                <a:cs typeface="+mj-lt"/>
              </a:rPr>
              <a:t> students from courses.</a:t>
            </a:r>
            <a:endParaRPr lang="en-US" sz="2800"/>
          </a:p>
          <a:p>
            <a:pPr>
              <a:buFont typeface="Arial"/>
              <a:buChar char="•"/>
            </a:pPr>
            <a:r>
              <a:rPr lang="en-US" sz="2800" dirty="0">
                <a:ea typeface="+mj-lt"/>
                <a:cs typeface="+mj-lt"/>
              </a:rPr>
              <a:t> Provides access to </a:t>
            </a:r>
            <a:r>
              <a:rPr lang="en-US" sz="2800" b="1" dirty="0">
                <a:ea typeface="+mj-lt"/>
                <a:cs typeface="+mj-lt"/>
              </a:rPr>
              <a:t>all students</a:t>
            </a:r>
            <a:r>
              <a:rPr lang="en-US" sz="2800" dirty="0">
                <a:ea typeface="+mj-lt"/>
                <a:cs typeface="+mj-lt"/>
              </a:rPr>
              <a:t>, their </a:t>
            </a:r>
            <a:r>
              <a:rPr lang="en-US" sz="2800" b="1" dirty="0">
                <a:ea typeface="+mj-lt"/>
                <a:cs typeface="+mj-lt"/>
              </a:rPr>
              <a:t>current enrollments</a:t>
            </a:r>
            <a:r>
              <a:rPr lang="en-US" sz="2800" dirty="0">
                <a:ea typeface="+mj-lt"/>
                <a:cs typeface="+mj-lt"/>
              </a:rPr>
              <a:t>, and available </a:t>
            </a:r>
            <a:r>
              <a:rPr lang="en-US" sz="2800" b="1" dirty="0">
                <a:ea typeface="+mj-lt"/>
                <a:cs typeface="+mj-lt"/>
              </a:rPr>
              <a:t>lecture/practical tickets</a:t>
            </a:r>
            <a:r>
              <a:rPr lang="en-US" sz="2800" dirty="0">
                <a:ea typeface="+mj-lt"/>
                <a:cs typeface="+mj-lt"/>
              </a:rPr>
              <a:t>.</a:t>
            </a:r>
            <a:endParaRPr lang="en-US" sz="2800"/>
          </a:p>
          <a:p>
            <a:pPr>
              <a:buFont typeface="Arial"/>
              <a:buChar char="•"/>
            </a:pPr>
            <a:r>
              <a:rPr lang="en-US" sz="2800" dirty="0">
                <a:ea typeface="+mj-lt"/>
                <a:cs typeface="+mj-lt"/>
              </a:rPr>
              <a:t> Ensures all changes are </a:t>
            </a:r>
            <a:r>
              <a:rPr lang="en-US" sz="2800" b="1" dirty="0">
                <a:ea typeface="+mj-lt"/>
                <a:cs typeface="+mj-lt"/>
              </a:rPr>
              <a:t>stored in the database</a:t>
            </a:r>
            <a:r>
              <a:rPr lang="en-US" sz="2800" dirty="0">
                <a:ea typeface="+mj-lt"/>
                <a:cs typeface="+mj-lt"/>
              </a:rPr>
              <a:t> and students are </a:t>
            </a:r>
            <a:r>
              <a:rPr lang="en-US" sz="2800" b="1" dirty="0">
                <a:ea typeface="+mj-lt"/>
                <a:cs typeface="+mj-lt"/>
              </a:rPr>
              <a:t>notified</a:t>
            </a:r>
            <a:r>
              <a:rPr lang="en-US" sz="2800" dirty="0">
                <a:ea typeface="+mj-lt"/>
                <a:cs typeface="+mj-lt"/>
              </a:rPr>
              <a:t>.</a:t>
            </a:r>
            <a:endParaRPr lang="en-US" sz="2800" dirty="0"/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endParaRPr lang="en-US" dirty="0"/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78AF9-928A-18B0-34DF-7ED61012C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dk1"/>
                </a:solidFill>
              </a:rPr>
              <a:t>Feature: Enrollment management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4C9B3-81DA-C96D-5CE1-A90278E3AD41}"/>
              </a:ext>
            </a:extLst>
          </p:cNvPr>
          <p:cNvSpPr>
            <a:spLocks noGrp="1"/>
          </p:cNvSpPr>
          <p:nvPr>
            <p:ph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ea typeface="+mn-lt"/>
                <a:cs typeface="+mn-lt"/>
              </a:rPr>
              <a:t>display study department dashboard</a:t>
            </a:r>
            <a:endParaRPr lang="en-US" dirty="0"/>
          </a:p>
          <a:p>
            <a:r>
              <a:rPr lang="en-US">
                <a:ea typeface="+mn-lt"/>
                <a:cs typeface="+mn-lt"/>
              </a:rPr>
              <a:t>display list of students</a:t>
            </a:r>
            <a:endParaRPr lang="en-US"/>
          </a:p>
          <a:p>
            <a:r>
              <a:rPr lang="en-US">
                <a:ea typeface="+mn-lt"/>
                <a:cs typeface="+mn-lt"/>
              </a:rPr>
              <a:t>fetch and cache data about the student from the database</a:t>
            </a:r>
            <a:endParaRPr lang="en-US"/>
          </a:p>
          <a:p>
            <a:r>
              <a:rPr lang="en-US">
                <a:ea typeface="+mn-lt"/>
                <a:cs typeface="+mn-lt"/>
              </a:rPr>
              <a:t>store data about new enrollment for a given student</a:t>
            </a:r>
            <a:endParaRPr lang="en-US"/>
          </a:p>
          <a:p>
            <a:r>
              <a:rPr lang="en-US">
                <a:ea typeface="+mn-lt"/>
                <a:cs typeface="+mn-lt"/>
              </a:rPr>
              <a:t>store data about unenrollment for a given student</a:t>
            </a:r>
            <a:endParaRPr lang="en-US"/>
          </a:p>
          <a:p>
            <a:r>
              <a:rPr lang="en-US">
                <a:ea typeface="+mn-lt"/>
                <a:cs typeface="+mn-lt"/>
              </a:rPr>
              <a:t>search in the list of students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notify student through the communication channel about the enrollment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notify student through the communication channel about the unenrollment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509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Feature: Setting enrollment conditions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Worked on by Vojto </a:t>
            </a:r>
            <a:r>
              <a:rPr lang="en-US" sz="2800" b="0" strike="noStrike" spc="-1" dirty="0" err="1">
                <a:solidFill>
                  <a:schemeClr val="dk1"/>
                </a:solidFill>
                <a:latin typeface="Aptos"/>
              </a:rPr>
              <a:t>Gáborík</a:t>
            </a: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 and Veronika </a:t>
            </a:r>
            <a:r>
              <a:rPr lang="en-US" sz="2800" b="0" strike="noStrike" spc="-1" dirty="0" err="1">
                <a:solidFill>
                  <a:schemeClr val="dk1"/>
                </a:solidFill>
                <a:latin typeface="Aptos"/>
              </a:rPr>
              <a:t>Kavanová</a:t>
            </a:r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endParaRPr lang="en-US" sz="2800" spc="-1" dirty="0">
              <a:solidFill>
                <a:schemeClr val="dk1"/>
              </a:solidFill>
              <a:latin typeface="Aptos"/>
            </a:endParaRPr>
          </a:p>
          <a:p>
            <a:pPr>
              <a:buClr>
                <a:srgbClr val="000000"/>
              </a:buClr>
              <a:buFont typeface="Arial"/>
              <a:buChar char="•"/>
            </a:pP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 Lets students open their schedule, view lecture/practical details, and </a:t>
            </a:r>
            <a:r>
              <a:rPr lang="en-US" sz="2800" b="1" spc="-1" dirty="0">
                <a:solidFill>
                  <a:schemeClr val="dk1"/>
                </a:solidFill>
                <a:ea typeface="+mj-lt"/>
                <a:cs typeface="+mj-lt"/>
              </a:rPr>
              <a:t>cancel enrollment</a:t>
            </a: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.</a:t>
            </a:r>
          </a:p>
          <a:p>
            <a:pPr>
              <a:buFont typeface="Arial"/>
              <a:buChar char="•"/>
            </a:pP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 Performs validation (e.g., is cancellation still allowed?).</a:t>
            </a:r>
            <a:endParaRPr lang="en-US" dirty="0">
              <a:solidFill>
                <a:schemeClr val="dk1"/>
              </a:solidFill>
              <a:ea typeface="+mj-lt"/>
              <a:cs typeface="+mj-lt"/>
            </a:endParaRPr>
          </a:p>
          <a:p>
            <a:pPr>
              <a:buFont typeface="Arial"/>
              <a:buChar char="•"/>
            </a:pPr>
            <a:r>
              <a:rPr lang="en-US" sz="2800" spc="-1" dirty="0">
                <a:solidFill>
                  <a:schemeClr val="dk1"/>
                </a:solidFill>
                <a:ea typeface="+mj-lt"/>
                <a:cs typeface="+mj-lt"/>
              </a:rPr>
              <a:t> Updates the database and refreshes the schedule.</a:t>
            </a:r>
            <a:endParaRPr lang="en-US" dirty="0">
              <a:solidFill>
                <a:schemeClr val="dk1"/>
              </a:solidFill>
              <a:ea typeface="+mj-lt"/>
              <a:cs typeface="+mj-lt"/>
            </a:endParaRPr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endParaRPr lang="en-US" sz="2800" spc="-1" dirty="0">
              <a:solidFill>
                <a:schemeClr val="dk1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C7746-726D-5570-93B8-21AD625D9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dk1"/>
                </a:solidFill>
              </a:rPr>
              <a:t>Feature: Setting enrollment conditions main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91D08-FC6F-4D2D-092A-630D537E7AF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609480" y="1604520"/>
            <a:ext cx="10972440" cy="4422856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ea typeface="+mn-lt"/>
                <a:cs typeface="+mn-lt"/>
              </a:rPr>
              <a:t>display condition editor UI with existing conditions, options to add new conditions, options to remove existing conditions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fetch current enrollment conditions for a course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persist new conditions added to a course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remove stored conditions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validate condition input (dates, numeric ranges, course refs, etc.)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evaluate whether a student satisfies a single condition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enforce conditions on enrollment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use SSO to allow teachers to log in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ensure only authorized teachers can view/edit their course conditions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9836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266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Architecture – L1 layer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pic>
        <p:nvPicPr>
          <p:cNvPr id="87" name="Content Placeholder 4" descr="A diagram of a system&#10;&#10;AI-generated content may be incorrect."/>
          <p:cNvPicPr/>
          <p:nvPr/>
        </p:nvPicPr>
        <p:blipFill>
          <a:blip r:embed="rId2"/>
          <a:stretch/>
        </p:blipFill>
        <p:spPr>
          <a:xfrm>
            <a:off x="2234160" y="1297080"/>
            <a:ext cx="7074000" cy="50544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Architecture – L2 layer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pic>
        <p:nvPicPr>
          <p:cNvPr id="3" name="Zástupný obsah 2">
            <a:extLst>
              <a:ext uri="{FF2B5EF4-FFF2-40B4-BE49-F238E27FC236}">
                <a16:creationId xmlns:a16="http://schemas.microsoft.com/office/drawing/2014/main" id="{97B29AE0-1C23-16A5-2784-ABE3BE8EFE10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668" y="1390650"/>
            <a:ext cx="12198668" cy="4956884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256894" y="158396"/>
            <a:ext cx="11684070" cy="135099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r>
              <a:rPr lang="en-US" sz="4400" b="0" strike="noStrike" spc="-1" dirty="0">
                <a:solidFill>
                  <a:schemeClr val="dk1"/>
                </a:solidFill>
                <a:latin typeface="Aptos Display"/>
              </a:rPr>
              <a:t>Architecture – L3 </a:t>
            </a:r>
            <a:r>
              <a:rPr lang="en-US" spc="-1" dirty="0">
                <a:solidFill>
                  <a:schemeClr val="dk1"/>
                </a:solidFill>
                <a:latin typeface="Aptos Display"/>
              </a:rPr>
              <a:t>enrollment manager</a:t>
            </a:r>
            <a:r>
              <a:rPr lang="en-US" sz="4400" b="0" strike="noStrike" spc="-1" dirty="0">
                <a:solidFill>
                  <a:schemeClr val="dk1"/>
                </a:solidFill>
                <a:latin typeface="Aptos Display"/>
              </a:rPr>
              <a:t> components</a:t>
            </a:r>
            <a:endParaRPr lang="en-US" sz="4400" b="0" strike="noStrike" spc="-1" dirty="0">
              <a:solidFill>
                <a:schemeClr val="dk1"/>
              </a:solidFill>
              <a:latin typeface="Aptos"/>
            </a:endParaRPr>
          </a:p>
        </p:txBody>
      </p:sp>
      <p:pic>
        <p:nvPicPr>
          <p:cNvPr id="3" name="Zástupný obsah 2">
            <a:extLst>
              <a:ext uri="{FF2B5EF4-FFF2-40B4-BE49-F238E27FC236}">
                <a16:creationId xmlns:a16="http://schemas.microsoft.com/office/drawing/2014/main" id="{4C4A4D64-1E3B-4FB5-B98D-6E6DED947B05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7350" y="1300439"/>
            <a:ext cx="8315325" cy="5557561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631A1-8891-94C1-37BC-DF82B0BBE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>
            <a:extLst>
              <a:ext uri="{FF2B5EF4-FFF2-40B4-BE49-F238E27FC236}">
                <a16:creationId xmlns:a16="http://schemas.microsoft.com/office/drawing/2014/main" id="{D4C31294-1A55-41A7-6729-241D9C700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216" y="126108"/>
            <a:ext cx="10928528" cy="135099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r>
              <a:rPr lang="en-US" sz="4400" b="0" strike="noStrike" spc="-1" dirty="0">
                <a:solidFill>
                  <a:schemeClr val="dk1"/>
                </a:solidFill>
                <a:latin typeface="Aptos Display"/>
              </a:rPr>
              <a:t>Architecture – L3 </a:t>
            </a:r>
            <a:r>
              <a:rPr lang="en-US" spc="-1" dirty="0">
                <a:solidFill>
                  <a:schemeClr val="dk1"/>
                </a:solidFill>
                <a:latin typeface="Aptos Display"/>
              </a:rPr>
              <a:t>statistics engine</a:t>
            </a:r>
            <a:r>
              <a:rPr lang="en-US" sz="4400" b="0" strike="noStrike" spc="-1" dirty="0">
                <a:solidFill>
                  <a:schemeClr val="dk1"/>
                </a:solidFill>
                <a:latin typeface="Aptos Display"/>
              </a:rPr>
              <a:t> components</a:t>
            </a:r>
            <a:endParaRPr lang="en-US" dirty="0">
              <a:solidFill>
                <a:schemeClr val="dk1"/>
              </a:solidFill>
            </a:endParaRPr>
          </a:p>
        </p:txBody>
      </p:sp>
      <p:pic>
        <p:nvPicPr>
          <p:cNvPr id="3" name="Zástupný obsah 2">
            <a:extLst>
              <a:ext uri="{FF2B5EF4-FFF2-40B4-BE49-F238E27FC236}">
                <a16:creationId xmlns:a16="http://schemas.microsoft.com/office/drawing/2014/main" id="{822FEF3D-38C5-8363-1DA2-45D8D8235351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5872" y="1280468"/>
            <a:ext cx="3488924" cy="5495141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791187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Dynamic diagrams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pic>
        <p:nvPicPr>
          <p:cNvPr id="93" name="Obrázek 92"/>
          <p:cNvPicPr/>
          <p:nvPr/>
        </p:nvPicPr>
        <p:blipFill>
          <a:blip r:embed="rId2"/>
          <a:stretch/>
        </p:blipFill>
        <p:spPr>
          <a:xfrm>
            <a:off x="800280" y="1371600"/>
            <a:ext cx="10235880" cy="52578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Deployment diagram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838080" y="1690560"/>
            <a:ext cx="10515240" cy="4485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Worked on by Veronika Kavanová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pic>
        <p:nvPicPr>
          <p:cNvPr id="96" name="Picture 5"/>
          <p:cNvPicPr/>
          <p:nvPr/>
        </p:nvPicPr>
        <p:blipFill>
          <a:blip r:embed="rId2"/>
          <a:stretch/>
        </p:blipFill>
        <p:spPr>
          <a:xfrm>
            <a:off x="1024920" y="2335320"/>
            <a:ext cx="9920880" cy="44262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97</Words>
  <Application>Microsoft Office PowerPoint</Application>
  <PresentationFormat>Widescreen</PresentationFormat>
  <Paragraphs>19</Paragraphs>
  <Slides>16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11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Enrollment system</vt:lpstr>
      <vt:lpstr>Feature: Student enrollment</vt:lpstr>
      <vt:lpstr>Feature: Student enrollment main responsibilities</vt:lpstr>
      <vt:lpstr>Feature: Student enrollment cancellation</vt:lpstr>
      <vt:lpstr>Feature: Student enrollment cancellation main responsibilities</vt:lpstr>
      <vt:lpstr>Feature: Enrollment management</vt:lpstr>
      <vt:lpstr>Feature: Enrollment management</vt:lpstr>
      <vt:lpstr>Feature: Setting enrollment conditions</vt:lpstr>
      <vt:lpstr>Feature: Setting enrollment conditions main responsibilities</vt:lpstr>
      <vt:lpstr>Architecture – L1 layer</vt:lpstr>
      <vt:lpstr>Architecture – L2 layer</vt:lpstr>
      <vt:lpstr>Architecture – L3 enrollment manager components</vt:lpstr>
      <vt:lpstr>Architecture – L3 statistics engine components</vt:lpstr>
      <vt:lpstr>Dynamic diagrams</vt:lpstr>
      <vt:lpstr>Deployment diagram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Veronika Kavanová</dc:creator>
  <dc:description/>
  <cp:lastModifiedBy>jan novák</cp:lastModifiedBy>
  <cp:revision>85</cp:revision>
  <dcterms:created xsi:type="dcterms:W3CDTF">2025-11-22T20:27:36Z</dcterms:created>
  <dcterms:modified xsi:type="dcterms:W3CDTF">2025-11-24T10:22:30Z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12</vt:i4>
  </property>
</Properties>
</file>