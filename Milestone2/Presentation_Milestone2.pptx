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2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7.xml" ContentType="application/vnd.openxmlformats-officedocument.theme+xml"/>
  <Override PartName="/ppt/theme/theme31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</p:sldMasterIdLst>
  <p:notesMasterIdLst>
    <p:notesMasterId r:id="rId38"/>
  </p:notesMasterIdLst>
  <p:sldIdLst>
    <p:sldId id="256" r:id="rId39"/>
    <p:sldId id="257" r:id="rId40"/>
    <p:sldId id="258" r:id="rId41"/>
    <p:sldId id="259" r:id="rId42"/>
    <p:sldId id="260" r:id="rId43"/>
    <p:sldId id="261" r:id="rId44"/>
    <p:sldId id="262" r:id="rId45"/>
    <p:sldId id="263" r:id="rId46"/>
    <p:sldId id="264" r:id="rId47"/>
    <p:sldId id="265" r:id="rId48"/>
    <p:sldId id="266" r:id="rId49"/>
    <p:sldId id="267" r:id="rId50"/>
    <p:sldId id="268" r:id="rId51"/>
    <p:sldId id="269" r:id="rId5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notesMaster" Target="notesMasters/notesMaster1.xml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Relationship Id="rId49" Type="http://schemas.openxmlformats.org/officeDocument/2006/relationships/slide" Target="slides/slide11.xml"/><Relationship Id="rId50" Type="http://schemas.openxmlformats.org/officeDocument/2006/relationships/slide" Target="slides/slide12.xml"/><Relationship Id="rId51" Type="http://schemas.openxmlformats.org/officeDocument/2006/relationships/slide" Target="slides/slide13.xml"/><Relationship Id="rId52" Type="http://schemas.openxmlformats.org/officeDocument/2006/relationships/slide" Target="slides/slide14.xml"/><Relationship Id="rId5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dt" idx="10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 type="ftr" idx="1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PlaceHolder 6"/>
          <p:cNvSpPr>
            <a:spLocks noGrp="1"/>
          </p:cNvSpPr>
          <p:nvPr>
            <p:ph type="sldNum" idx="1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6D9BBED-094E-4256-8148-48E4F75023C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1BEEF7-9FCD-4783-B5DF-112A1B267C54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F1099B-EB2E-4F9B-AD48-CE5336501FDA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51D41F-9AE4-4894-BC20-C5647F62BD52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15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88EECB-A37A-40CD-B67E-07D99707C48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16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7F273C-7330-4739-AAD6-7540E83BA21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815063-6D70-447C-8EDD-2C643A7274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OBJECT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875E3A-6AF8-4DB2-925D-47C6341CB5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FOUR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EB08405-D20F-496B-B050-FD64F94F86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DA346F0-F44D-4DA0-A87B-665950D2EC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6FD085D-7CB3-479A-B5B4-76C2A8F186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C06F018-6815-46A6-941D-C30BE23BE0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D7E5359-9469-4FE0-B34B-748D5A7D482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308D9B4-EDA2-470F-8044-D508C4293A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OBJECT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4955C07-EB5A-46B4-A896-A980661E50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WO_OBJECTS_AND_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BCA5BB5-AD84-4BE7-9F70-D9EEB43CD6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OBJECT_AND_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F26F10F-4420-4DC2-A945-0BD4EA5408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WO_OBJECTS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3D03803-76D9-4156-87F1-C1C2FC37BE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4EE3CF6-C6D8-4C7E-80CF-013A7C774A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5F60D14-9D38-47ED-8930-F387138385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3D2CF6B-7E2E-4996-BD93-AA3E1E502F4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06681E9D-66C4-4EDB-A06F-271C1AA972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2CF1B65-8015-4AF1-A0FD-2CA5F0790C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1F042B6-2F91-43AF-8487-DF0F683D39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09CED34F-BAD3-40E6-9191-18C30ABAA9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EBAB0089-BB9A-4A1D-8C86-BE2108B4F6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0090A35A-A463-4B8D-9F99-720C3F54A8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739D277B-C665-40D6-8BAB-E143689C9E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EE8FF209-3E64-43B3-A54D-F249D7BB97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63F9B910-D0ED-438E-BD6B-5B02678B86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12DD2A0C-E943-479E-A552-B40993229B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77"/>
          </p:nvPr>
        </p:nvSpPr>
        <p:spPr/>
        <p:txBody>
          <a:bodyPr/>
          <a:p>
            <a:fld id="{DF0D98D9-E5F1-4CB1-A47F-46A83ECDE3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0"/>
          </p:nvPr>
        </p:nvSpPr>
        <p:spPr/>
        <p:txBody>
          <a:bodyPr/>
          <a:p>
            <a:fld id="{2BBFF2C1-C612-41A6-8448-E36AAC466B5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8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3"/>
          </p:nvPr>
        </p:nvSpPr>
        <p:spPr/>
        <p:txBody>
          <a:bodyPr/>
          <a:p>
            <a:fld id="{A120CC84-E6EE-49A3-A9BD-A5158470EE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6"/>
          </p:nvPr>
        </p:nvSpPr>
        <p:spPr/>
        <p:txBody>
          <a:bodyPr/>
          <a:p>
            <a:fld id="{0BBF7EF4-7401-4CCB-AC66-3738918BE0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9"/>
          </p:nvPr>
        </p:nvSpPr>
        <p:spPr/>
        <p:txBody>
          <a:bodyPr/>
          <a:p>
            <a:fld id="{48EBFE9D-BF54-4554-869A-E38D69D40C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9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2"/>
          </p:nvPr>
        </p:nvSpPr>
        <p:spPr/>
        <p:txBody>
          <a:bodyPr/>
          <a:p>
            <a:fld id="{686A11A1-9B41-4099-9F77-FA5427CC3B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9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5"/>
          </p:nvPr>
        </p:nvSpPr>
        <p:spPr/>
        <p:txBody>
          <a:bodyPr/>
          <a:p>
            <a:fld id="{BF257848-4B94-4A3D-831D-DCA0E9C52D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8"/>
          </p:nvPr>
        </p:nvSpPr>
        <p:spPr/>
        <p:txBody>
          <a:bodyPr/>
          <a:p>
            <a:fld id="{EA347DDA-B2DE-4470-AFBD-7140B791ED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1"/>
          </p:nvPr>
        </p:nvSpPr>
        <p:spPr/>
        <p:txBody>
          <a:bodyPr/>
          <a:p>
            <a:fld id="{D9AED7AE-85F8-4673-9737-C2E543C033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0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4"/>
          </p:nvPr>
        </p:nvSpPr>
        <p:spPr/>
        <p:txBody>
          <a:bodyPr/>
          <a:p>
            <a:fld id="{5FF482E5-BC75-42F9-921B-C08A4326D3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0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07"/>
          </p:nvPr>
        </p:nvSpPr>
        <p:spPr/>
        <p:txBody>
          <a:bodyPr/>
          <a:p>
            <a:fld id="{5097E023-CCD7-41F5-AC19-7B5423ED1A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0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5A0784-A8D9-498D-A7F2-790C72A93946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14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6E98E0-5F5A-4EB1-8D8E-5493D5493122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B42400-0C37-4F85-AAFC-2B030B8C1B13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6078E4-024A-4378-8551-7E5D048495BF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ABCAAC-05A3-4912-A4FD-732A7114D571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FD888D-FA9C-43BF-AF35-EDD917CEE08F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4CB052-65BA-4255-A97F-A18BABE1B6F5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6C9A1F-CCF4-48C0-AFD2-364E110C0819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6738BF-71A1-4806-9505-C33FC2CAFA16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2F3551-2211-4AD0-9062-EF33BD102599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7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0769BA-8451-4ADA-A6D3-49652D2CE656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637CDE-FA79-46F9-9267-0D9131B407B9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B38576-1224-4CF4-9626-E177D555D87B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62BC58-9897-4897-8ABC-FE8E7B0BA6FF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CFD3F2-0894-4B3B-B773-BA6A2D3FA8C7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73BDB8-630E-461A-929B-B5923549A7CD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98E590-912B-4AC2-9D22-D32BF8018F15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915CB0-9AEE-49DF-BA92-9544DC50402A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2EE218-3030-4200-A5F2-FB25C39A2028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106AEA-8666-4206-A7B1-6D33008A9D04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5CF66B-49C1-47EB-B517-5D7AC2F8FEF4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5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PlaceHolder 6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17C204-5E10-44DD-A6FC-A74063726140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PlaceHolder 7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A4F8A6-AB53-4A01-8206-EF23B13B1F00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BC1F51-82F8-42D0-B2A6-8B0C7B9015EA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ftr" idx="7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ldNum" idx="7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7E5D6D-AECC-415E-AC17-BC468604C798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ftr" idx="7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sldNum" idx="7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C82F5C-A3CC-428A-AA83-D05949ADCC17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PlaceHolder 6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6"/>
          <p:cNvSpPr>
            <a:spLocks noGrp="1"/>
          </p:cNvSpPr>
          <p:nvPr>
            <p:ph type="ftr" idx="7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PlaceHolder 7"/>
          <p:cNvSpPr>
            <a:spLocks noGrp="1"/>
          </p:cNvSpPr>
          <p:nvPr>
            <p:ph type="sldNum" idx="8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6B2F38-EEA3-4AD0-B954-6BF812F23F55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PlaceHolder 8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8"/>
          <p:cNvSpPr>
            <a:spLocks noGrp="1"/>
          </p:cNvSpPr>
          <p:nvPr>
            <p:ph type="ftr" idx="8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PlaceHolder 9"/>
          <p:cNvSpPr>
            <a:spLocks noGrp="1"/>
          </p:cNvSpPr>
          <p:nvPr>
            <p:ph type="sldNum" idx="8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36ECAF-99E5-46FD-A734-A1E6CD219539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PlaceHolder 10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ftr" idx="8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8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C713BE-3F2B-4319-9C8E-D7C0D5CF9439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ftr" idx="8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4"/>
          <p:cNvSpPr>
            <a:spLocks noGrp="1"/>
          </p:cNvSpPr>
          <p:nvPr>
            <p:ph type="sldNum" idx="8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20CC52-4BBA-4826-A4B6-88E82F96366B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5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 type="ftr" idx="9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PlaceHolder 5"/>
          <p:cNvSpPr>
            <a:spLocks noGrp="1"/>
          </p:cNvSpPr>
          <p:nvPr>
            <p:ph type="sldNum" idx="9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63A9CD-AEE1-44F0-BD50-F8CD106529D6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PlaceHolder 6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ftr" idx="9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9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B0812B-06B3-45E5-AB4D-8322E302ACD3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PlaceHolder 4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ftr" idx="9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sldNum" idx="9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A2FC4F-60F0-4C88-9B08-B4B766159473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ftr" idx="10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PlaceHolder 6"/>
          <p:cNvSpPr>
            <a:spLocks noGrp="1"/>
          </p:cNvSpPr>
          <p:nvPr>
            <p:ph type="sldNum" idx="10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3781D0-927E-4BBD-948D-843BBF6F7D23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PlaceHolder 7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 type="ftr" idx="10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 type="sldNum" idx="10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B347C2-4BB3-4820-A589-C84F2DCF145F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5"/>
          <p:cNvSpPr>
            <a:spLocks noGrp="1"/>
          </p:cNvSpPr>
          <p:nvPr>
            <p:ph type="ftr" idx="10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PlaceHolder 6"/>
          <p:cNvSpPr>
            <a:spLocks noGrp="1"/>
          </p:cNvSpPr>
          <p:nvPr>
            <p:ph type="sldNum" idx="10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787878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760C23-40E8-49F2-92FC-7E13CF32EEF5}" type="slidenum">
              <a:rPr b="0" lang="en-US" sz="1200" spc="-1" strike="noStrike">
                <a:solidFill>
                  <a:srgbClr val="787878"/>
                </a:solidFill>
                <a:latin typeface="Arial"/>
                <a:ea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PlaceHolder 7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Play"/>
                <a:ea typeface="Play"/>
              </a:rPr>
              <a:t>Exams 1 – Milestone2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280" cy="16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Team: Enrollments 1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Arial"/>
              </a:rPr>
              <a:t>Vojto Gáborík , Veronika Kavanová, Jan Novák, Vojtěch Štěpán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831960" y="110952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>
                <a:solidFill>
                  <a:srgbClr val="000000"/>
                </a:solidFill>
                <a:latin typeface="Play"/>
                <a:ea typeface="Play"/>
              </a:rPr>
              <a:t>Administrator wants to change the database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Google Shape;290;p2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Play"/>
                <a:ea typeface="Play"/>
              </a:rPr>
              <a:t>Requirement description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4880" cy="448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Modifiability requirement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Google Shape;297;p3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" name="Google Shape;298;p3" descr=""/>
          <p:cNvPicPr/>
          <p:nvPr/>
        </p:nvPicPr>
        <p:blipFill>
          <a:blip r:embed="rId1"/>
          <a:stretch/>
        </p:blipFill>
        <p:spPr>
          <a:xfrm>
            <a:off x="926280" y="2199960"/>
            <a:ext cx="8763480" cy="1228320"/>
          </a:xfrm>
          <a:prstGeom prst="rect">
            <a:avLst/>
          </a:prstGeom>
          <a:ln w="0">
            <a:noFill/>
          </a:ln>
        </p:spPr>
      </p:pic>
      <p:pic>
        <p:nvPicPr>
          <p:cNvPr id="313" name="Google Shape;299;p3" descr=""/>
          <p:cNvPicPr/>
          <p:nvPr/>
        </p:nvPicPr>
        <p:blipFill>
          <a:blip r:embed="rId2"/>
          <a:stretch/>
        </p:blipFill>
        <p:spPr>
          <a:xfrm>
            <a:off x="926280" y="3731400"/>
            <a:ext cx="8401680" cy="2599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Play"/>
                <a:ea typeface="Play"/>
              </a:rPr>
              <a:t>Existing architecture – container view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5" name="Google Shape;306;p4" descr=""/>
          <p:cNvPicPr/>
          <p:nvPr/>
        </p:nvPicPr>
        <p:blipFill>
          <a:blip r:embed="rId1"/>
          <a:stretch/>
        </p:blipFill>
        <p:spPr>
          <a:xfrm>
            <a:off x="907920" y="1602720"/>
            <a:ext cx="9417240" cy="4231080"/>
          </a:xfrm>
          <a:prstGeom prst="rect">
            <a:avLst/>
          </a:prstGeom>
          <a:ln w="0">
            <a:noFill/>
          </a:ln>
        </p:spPr>
      </p:pic>
      <p:sp>
        <p:nvSpPr>
          <p:cNvPr id="316" name="Google Shape;307;p4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Play"/>
                <a:ea typeface="Play"/>
              </a:rPr>
              <a:t>Notification Worker -&gt; Exam database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Google Shape;314;p5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Veronika Kavanová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Google Shape;315;p5" descr=""/>
          <p:cNvPicPr/>
          <p:nvPr/>
        </p:nvPicPr>
        <p:blipFill>
          <a:blip r:embed="rId1"/>
          <a:stretch/>
        </p:blipFill>
        <p:spPr>
          <a:xfrm>
            <a:off x="1230480" y="1690560"/>
            <a:ext cx="6077160" cy="4350600"/>
          </a:xfrm>
          <a:prstGeom prst="rect">
            <a:avLst/>
          </a:prstGeom>
          <a:ln w="0">
            <a:noFill/>
          </a:ln>
        </p:spPr>
      </p:pic>
      <p:sp>
        <p:nvSpPr>
          <p:cNvPr id="320" name="Google Shape;316;p5"/>
          <p:cNvSpPr/>
          <p:nvPr/>
        </p:nvSpPr>
        <p:spPr>
          <a:xfrm>
            <a:off x="5349960" y="3263760"/>
            <a:ext cx="2563560" cy="3252600"/>
          </a:xfrm>
          <a:prstGeom prst="ellipse">
            <a:avLst/>
          </a:prstGeom>
          <a:noFill/>
          <a:ln w="25400">
            <a:solidFill>
              <a:srgbClr val="196b2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Google Shape;317;p5"/>
          <p:cNvSpPr/>
          <p:nvPr/>
        </p:nvSpPr>
        <p:spPr>
          <a:xfrm>
            <a:off x="7720560" y="2055600"/>
            <a:ext cx="371664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All communication goes through Notification Log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This allows for easy changes.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Notification Log can be changed to work with the new database or both of them during the change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Play"/>
                <a:ea typeface="Play"/>
              </a:rPr>
              <a:t>Application Core -&gt; Exam Database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3" name="Google Shape;324;p6" descr=""/>
          <p:cNvPicPr/>
          <p:nvPr/>
        </p:nvPicPr>
        <p:blipFill>
          <a:blip r:embed="rId1"/>
          <a:stretch/>
        </p:blipFill>
        <p:spPr>
          <a:xfrm>
            <a:off x="513000" y="1541520"/>
            <a:ext cx="9605160" cy="4950720"/>
          </a:xfrm>
          <a:prstGeom prst="rect">
            <a:avLst/>
          </a:prstGeom>
          <a:ln w="0">
            <a:noFill/>
          </a:ln>
        </p:spPr>
      </p:pic>
      <p:sp>
        <p:nvSpPr>
          <p:cNvPr id="324" name="Google Shape;325;p6"/>
          <p:cNvSpPr/>
          <p:nvPr/>
        </p:nvSpPr>
        <p:spPr>
          <a:xfrm>
            <a:off x="3481560" y="3340440"/>
            <a:ext cx="2731680" cy="3344760"/>
          </a:xfrm>
          <a:prstGeom prst="ellipse">
            <a:avLst/>
          </a:prstGeom>
          <a:noFill/>
          <a:ln w="25400">
            <a:solidFill>
              <a:srgbClr val="196b2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Google Shape;326;p6"/>
          <p:cNvSpPr/>
          <p:nvPr/>
        </p:nvSpPr>
        <p:spPr>
          <a:xfrm>
            <a:off x="9969840" y="1565280"/>
            <a:ext cx="214272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Most communication goes through Exam Repository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Database access is abstracted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Play"/>
                <a:ea typeface="Play"/>
              </a:rPr>
              <a:t>Change: Statistics service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7" name="Google Shape;332;p7" descr=""/>
          <p:cNvPicPr/>
          <p:nvPr/>
        </p:nvPicPr>
        <p:blipFill>
          <a:blip r:embed="rId1"/>
          <a:stretch/>
        </p:blipFill>
        <p:spPr>
          <a:xfrm>
            <a:off x="2151000" y="1572840"/>
            <a:ext cx="3275640" cy="4587840"/>
          </a:xfrm>
          <a:prstGeom prst="rect">
            <a:avLst/>
          </a:prstGeom>
          <a:ln w="0">
            <a:noFill/>
          </a:ln>
        </p:spPr>
      </p:pic>
      <p:sp>
        <p:nvSpPr>
          <p:cNvPr id="328" name="Google Shape;333;p7"/>
          <p:cNvSpPr/>
          <p:nvPr/>
        </p:nvSpPr>
        <p:spPr>
          <a:xfrm>
            <a:off x="6095880" y="1851480"/>
            <a:ext cx="5082480" cy="34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Split Statistics Service into two components: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Statistics Service now only deals with business logic – calculating results and building reports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Statistics Repository deals with the communication with the Exam Database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Database access is again abstracted and easily changed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831960" y="110952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>
                <a:solidFill>
                  <a:srgbClr val="000000"/>
                </a:solidFill>
                <a:latin typeface="Arial"/>
                <a:ea typeface="Arial"/>
              </a:rPr>
              <a:t>School Information System requests data for room availability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Google Shape;339;g3b4880178ff_0_0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Play"/>
                <a:ea typeface="Play"/>
              </a:rPr>
              <a:t>Requirement description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Google Shape;345;p8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Google Shape;346;p8"/>
          <p:cNvSpPr/>
          <p:nvPr/>
        </p:nvSpPr>
        <p:spPr>
          <a:xfrm>
            <a:off x="545400" y="1499400"/>
            <a:ext cx="606096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Interoperability requirement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4" name="Google Shape;347;p8" descr=""/>
          <p:cNvPicPr/>
          <p:nvPr/>
        </p:nvPicPr>
        <p:blipFill>
          <a:blip r:embed="rId1"/>
          <a:stretch/>
        </p:blipFill>
        <p:spPr>
          <a:xfrm>
            <a:off x="498600" y="2131200"/>
            <a:ext cx="6799680" cy="2585160"/>
          </a:xfrm>
          <a:prstGeom prst="rect">
            <a:avLst/>
          </a:prstGeom>
          <a:ln w="0">
            <a:noFill/>
          </a:ln>
        </p:spPr>
      </p:pic>
      <p:pic>
        <p:nvPicPr>
          <p:cNvPr id="335" name="Google Shape;348;p8" descr=""/>
          <p:cNvPicPr/>
          <p:nvPr/>
        </p:nvPicPr>
        <p:blipFill>
          <a:blip r:embed="rId2"/>
          <a:stretch/>
        </p:blipFill>
        <p:spPr>
          <a:xfrm>
            <a:off x="2039760" y="4995000"/>
            <a:ext cx="9060120" cy="1191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54;g3b4880178ff_0_9" descr=""/>
          <p:cNvPicPr/>
          <p:nvPr/>
        </p:nvPicPr>
        <p:blipFill>
          <a:blip r:embed="rId1"/>
          <a:stretch/>
        </p:blipFill>
        <p:spPr>
          <a:xfrm>
            <a:off x="152280" y="2438280"/>
            <a:ext cx="11886840" cy="1599120"/>
          </a:xfrm>
          <a:prstGeom prst="rect">
            <a:avLst/>
          </a:prstGeom>
          <a:ln w="0">
            <a:noFill/>
          </a:ln>
        </p:spPr>
      </p:pic>
      <p:sp>
        <p:nvSpPr>
          <p:cNvPr id="337" name="Google Shape;355;g3b4880178ff_0_9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61;g3b4880178ff_0_15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Jan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Novák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9" name="Google Shape;362;g3b4880178ff_0_15" descr=""/>
          <p:cNvPicPr/>
          <p:nvPr/>
        </p:nvPicPr>
        <p:blipFill>
          <a:blip r:embed="rId1"/>
          <a:stretch/>
        </p:blipFill>
        <p:spPr>
          <a:xfrm>
            <a:off x="582480" y="1920960"/>
            <a:ext cx="6133680" cy="4571640"/>
          </a:xfrm>
          <a:prstGeom prst="rect">
            <a:avLst/>
          </a:prstGeom>
          <a:ln w="0">
            <a:noFill/>
          </a:ln>
        </p:spPr>
      </p:pic>
      <p:sp>
        <p:nvSpPr>
          <p:cNvPr id="340" name="Google Shape;363;g3b4880178ff_0_15"/>
          <p:cNvSpPr/>
          <p:nvPr/>
        </p:nvSpPr>
        <p:spPr>
          <a:xfrm>
            <a:off x="199080" y="681480"/>
            <a:ext cx="1026576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Play"/>
                <a:ea typeface="Play"/>
              </a:rPr>
              <a:t>Existing architecture – container view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Google Shape;364;g3b4880178ff_0_15"/>
          <p:cNvSpPr/>
          <p:nvPr/>
        </p:nvSpPr>
        <p:spPr>
          <a:xfrm>
            <a:off x="7309080" y="2265120"/>
            <a:ext cx="4299120" cy="40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marL="457200" indent="-34308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changes happen mainly on L4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from the container point of view we only add new interaction between SIS and Application core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SIS fetches data from Room Availability Service component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831960" y="110952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>
                <a:solidFill>
                  <a:srgbClr val="000000"/>
                </a:solidFill>
                <a:latin typeface="Arial"/>
                <a:ea typeface="Arial"/>
              </a:rPr>
              <a:t>Notification worker require log into database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Google Shape;339;g3b4880178ff_0_ 2"/>
          <p:cNvSpPr/>
          <p:nvPr/>
        </p:nvSpPr>
        <p:spPr>
          <a:xfrm>
            <a:off x="10009080" y="113040"/>
            <a:ext cx="2051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Vojtěch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Štěpán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Play"/>
                <a:ea typeface="Play"/>
              </a:rPr>
              <a:t>Requirement description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Google Shape;345;p 2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Vojtěch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Štěpán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Google Shape;346;p 2"/>
          <p:cNvSpPr/>
          <p:nvPr/>
        </p:nvSpPr>
        <p:spPr>
          <a:xfrm>
            <a:off x="545400" y="1499400"/>
            <a:ext cx="6060960" cy="35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Source of stimulus: Notification worker</a:t>
            </a:r>
            <a:endParaRPr b="0" lang="en-US" sz="28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Stimulus: Unable to write log</a:t>
            </a:r>
            <a:endParaRPr b="0" lang="en-US" sz="28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Enviroment: Normal operation</a:t>
            </a:r>
            <a:endParaRPr b="0" lang="en-US" sz="28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Artifact: Exam database</a:t>
            </a:r>
            <a:endParaRPr b="0" lang="en-US" sz="28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Response: Recover log</a:t>
            </a:r>
            <a:endParaRPr b="0" lang="en-US" sz="28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marL="457200" indent="-40644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Meassurement: 24 hours downtime</a:t>
            </a:r>
            <a:endParaRPr b="0" lang="en-US" sz="2800" spc="-1" strike="noStrike">
              <a:solidFill>
                <a:srgbClr val="000000"/>
              </a:solidFill>
              <a:latin typeface="Courier New"/>
              <a:ea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Play"/>
                <a:ea typeface="Play"/>
              </a:rPr>
              <a:t>Solution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Google Shape;345;p 3"/>
          <p:cNvSpPr/>
          <p:nvPr/>
        </p:nvSpPr>
        <p:spPr>
          <a:xfrm>
            <a:off x="10009080" y="113040"/>
            <a:ext cx="2051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Vojtěch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Štěpán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Google Shape;346;p 3"/>
          <p:cNvSpPr/>
          <p:nvPr/>
        </p:nvSpPr>
        <p:spPr>
          <a:xfrm>
            <a:off x="545400" y="1499400"/>
            <a:ext cx="606096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0" name="" descr=""/>
          <p:cNvPicPr/>
          <p:nvPr/>
        </p:nvPicPr>
        <p:blipFill>
          <a:blip r:embed="rId1"/>
          <a:stretch/>
        </p:blipFill>
        <p:spPr>
          <a:xfrm>
            <a:off x="1143000" y="1870920"/>
            <a:ext cx="9601200" cy="4871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2026-01-04T11:02:43Z</dcterms:created>
  <dc:creator>Veronika Kavanová</dc:creator>
  <dc:description/>
  <dc:language>en-US</dc:language>
  <cp:lastModifiedBy/>
  <dcterms:modified xsi:type="dcterms:W3CDTF">2026-01-05T07:51:20Z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