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96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27131-D6B5-05EA-A8CD-7B2A131B9694}" v="318" dt="2026-01-05T09:21:02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30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302" name="PlaceHolder 4"/>
          <p:cNvSpPr>
            <a:spLocks noGrp="1"/>
          </p:cNvSpPr>
          <p:nvPr>
            <p:ph type="dt" idx="10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03" name="PlaceHolder 5"/>
          <p:cNvSpPr>
            <a:spLocks noGrp="1"/>
          </p:cNvSpPr>
          <p:nvPr>
            <p:ph type="ftr" idx="11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04" name="PlaceHolder 6"/>
          <p:cNvSpPr>
            <a:spLocks noGrp="1"/>
          </p:cNvSpPr>
          <p:nvPr>
            <p:ph type="sldNum" idx="11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6D9BBED-094E-4256-8148-48E4F75023C9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1BEEF7-9FCD-4783-B5DF-112A1B267C54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F1099B-EB2E-4F9B-AD48-CE5336501FDA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51D41F-9AE4-4894-BC20-C5647F62BD52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1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88EECB-A37A-40CD-B67E-07D99707C488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1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7F273C-7330-4739-AAD6-7540E83BA21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A815063-6D70-447C-8EDD-2C643A72740C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D4EE3CF6-C6D8-4C7E-80CF-013A7C774A2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lstStyle/>
          <a:p>
            <a:fld id="{12DD2A0C-E943-479E-A552-B40993229B6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78787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5A0784-A8D9-498D-A7F2-790C72A93946}" type="slidenum">
              <a:rPr lang="en-US" sz="1200" b="0" strike="noStrike" spc="-1">
                <a:solidFill>
                  <a:srgbClr val="787878"/>
                </a:solidFill>
                <a:latin typeface="Arial"/>
                <a:ea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0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78787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B38576-1224-4CF4-9626-E177D555D87B}" type="slidenum">
              <a:rPr lang="en-US" sz="1200" b="0" strike="noStrike" spc="-1">
                <a:solidFill>
                  <a:srgbClr val="787878"/>
                </a:solidFill>
                <a:latin typeface="Arial"/>
                <a:ea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0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78787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7E5D6D-AECC-415E-AC17-BC468604C798}" type="slidenum">
              <a:rPr lang="en-US" sz="1200" b="0" strike="noStrike" spc="-1">
                <a:solidFill>
                  <a:srgbClr val="787878"/>
                </a:solidFill>
                <a:latin typeface="Arial"/>
                <a:ea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0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rgbClr val="000000"/>
                </a:solidFill>
                <a:latin typeface="Play"/>
                <a:ea typeface="Play"/>
              </a:rPr>
              <a:t>Exams 1 – Milestone2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Team: Enrollments 1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Arial"/>
              </a:rPr>
              <a:t>Vojto Gáborík , Veronika Kavanová, Jan Novák, Vojtěch Štěpán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31960" y="110952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Play"/>
                <a:ea typeface="Play"/>
              </a:rPr>
              <a:t>Administrator wants to change the database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290;p2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Requirement description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4880" cy="4485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Modifiability requirement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297;p3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Google Shape;298;p3"/>
          <p:cNvPicPr/>
          <p:nvPr/>
        </p:nvPicPr>
        <p:blipFill>
          <a:blip r:embed="rId2"/>
          <a:stretch/>
        </p:blipFill>
        <p:spPr>
          <a:xfrm>
            <a:off x="926280" y="2199960"/>
            <a:ext cx="8763480" cy="1228320"/>
          </a:xfrm>
          <a:prstGeom prst="rect">
            <a:avLst/>
          </a:prstGeom>
          <a:ln w="0">
            <a:noFill/>
          </a:ln>
        </p:spPr>
      </p:pic>
      <p:pic>
        <p:nvPicPr>
          <p:cNvPr id="313" name="Google Shape;299;p3"/>
          <p:cNvPicPr/>
          <p:nvPr/>
        </p:nvPicPr>
        <p:blipFill>
          <a:blip r:embed="rId3"/>
          <a:stretch/>
        </p:blipFill>
        <p:spPr>
          <a:xfrm>
            <a:off x="926280" y="3731400"/>
            <a:ext cx="8401680" cy="2599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Existing architecture – container view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Google Shape;306;p4"/>
          <p:cNvPicPr/>
          <p:nvPr/>
        </p:nvPicPr>
        <p:blipFill>
          <a:blip r:embed="rId3"/>
          <a:stretch/>
        </p:blipFill>
        <p:spPr>
          <a:xfrm>
            <a:off x="907920" y="1602720"/>
            <a:ext cx="9417240" cy="4231080"/>
          </a:xfrm>
          <a:prstGeom prst="rect">
            <a:avLst/>
          </a:prstGeom>
          <a:ln w="0">
            <a:noFill/>
          </a:ln>
        </p:spPr>
      </p:pic>
      <p:sp>
        <p:nvSpPr>
          <p:cNvPr id="316" name="Google Shape;307;p4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Notification Worker -&gt; Exam database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314;p5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Google Shape;315;p5"/>
          <p:cNvPicPr/>
          <p:nvPr/>
        </p:nvPicPr>
        <p:blipFill>
          <a:blip r:embed="rId3"/>
          <a:stretch/>
        </p:blipFill>
        <p:spPr>
          <a:xfrm>
            <a:off x="1230480" y="1690560"/>
            <a:ext cx="6077160" cy="4350600"/>
          </a:xfrm>
          <a:prstGeom prst="rect">
            <a:avLst/>
          </a:prstGeom>
          <a:ln w="0">
            <a:noFill/>
          </a:ln>
        </p:spPr>
      </p:pic>
      <p:sp>
        <p:nvSpPr>
          <p:cNvPr id="320" name="Google Shape;316;p5"/>
          <p:cNvSpPr/>
          <p:nvPr/>
        </p:nvSpPr>
        <p:spPr>
          <a:xfrm>
            <a:off x="5349960" y="3263760"/>
            <a:ext cx="2563560" cy="3252600"/>
          </a:xfrm>
          <a:prstGeom prst="ellipse">
            <a:avLst/>
          </a:prstGeom>
          <a:noFill/>
          <a:ln w="25400">
            <a:solidFill>
              <a:srgbClr val="196B2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317;p5"/>
          <p:cNvSpPr/>
          <p:nvPr/>
        </p:nvSpPr>
        <p:spPr>
          <a:xfrm>
            <a:off x="7720560" y="2055600"/>
            <a:ext cx="3716640" cy="20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All communication goes through Notification Log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This allows for easy changes.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Notification Log can be changed to work with the new database or both of them during the change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Application Core -&gt; Exam Database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Google Shape;324;p6"/>
          <p:cNvPicPr/>
          <p:nvPr/>
        </p:nvPicPr>
        <p:blipFill>
          <a:blip r:embed="rId3"/>
          <a:stretch/>
        </p:blipFill>
        <p:spPr>
          <a:xfrm>
            <a:off x="513000" y="1541520"/>
            <a:ext cx="9605160" cy="4950720"/>
          </a:xfrm>
          <a:prstGeom prst="rect">
            <a:avLst/>
          </a:prstGeom>
          <a:ln w="0">
            <a:noFill/>
          </a:ln>
        </p:spPr>
      </p:pic>
      <p:sp>
        <p:nvSpPr>
          <p:cNvPr id="324" name="Google Shape;325;p6"/>
          <p:cNvSpPr/>
          <p:nvPr/>
        </p:nvSpPr>
        <p:spPr>
          <a:xfrm>
            <a:off x="3481560" y="3340440"/>
            <a:ext cx="2731680" cy="3344760"/>
          </a:xfrm>
          <a:prstGeom prst="ellipse">
            <a:avLst/>
          </a:prstGeom>
          <a:noFill/>
          <a:ln w="25400">
            <a:solidFill>
              <a:srgbClr val="196B2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326;p6"/>
          <p:cNvSpPr/>
          <p:nvPr/>
        </p:nvSpPr>
        <p:spPr>
          <a:xfrm>
            <a:off x="9969840" y="1565280"/>
            <a:ext cx="2142720" cy="25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Most communication goes through Exam Repository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Database access is abstracted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314;p5">
            <a:extLst>
              <a:ext uri="{FF2B5EF4-FFF2-40B4-BE49-F238E27FC236}">
                <a16:creationId xmlns:a16="http://schemas.microsoft.com/office/drawing/2014/main" id="{229581FD-64CB-8932-7EF3-35DB8CB494A0}"/>
              </a:ext>
            </a:extLst>
          </p:cNvPr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Change: Statistics service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7" name="Google Shape;332;p7"/>
          <p:cNvPicPr/>
          <p:nvPr/>
        </p:nvPicPr>
        <p:blipFill>
          <a:blip r:embed="rId2"/>
          <a:stretch/>
        </p:blipFill>
        <p:spPr>
          <a:xfrm>
            <a:off x="2151000" y="1572840"/>
            <a:ext cx="3275640" cy="4587840"/>
          </a:xfrm>
          <a:prstGeom prst="rect">
            <a:avLst/>
          </a:prstGeom>
          <a:ln w="0">
            <a:noFill/>
          </a:ln>
        </p:spPr>
      </p:pic>
      <p:sp>
        <p:nvSpPr>
          <p:cNvPr id="328" name="Google Shape;333;p7"/>
          <p:cNvSpPr/>
          <p:nvPr/>
        </p:nvSpPr>
        <p:spPr>
          <a:xfrm>
            <a:off x="6095880" y="1851480"/>
            <a:ext cx="5082480" cy="34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Split Statistics Service into two components: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Statistics Service now only deals with business logic – calculating results and building reports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Statistics Repository deals with the communication with the Exam Database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Arial"/>
              </a:rPr>
              <a:t>Database access is again abstracted and easily changed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314;p5">
            <a:extLst>
              <a:ext uri="{FF2B5EF4-FFF2-40B4-BE49-F238E27FC236}">
                <a16:creationId xmlns:a16="http://schemas.microsoft.com/office/drawing/2014/main" id="{77F0516C-590D-4D9F-B8C4-9EADF2055251}"/>
              </a:ext>
            </a:extLst>
          </p:cNvPr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Veronika Kavanová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831960" y="110952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School Information System requests data for room availability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339;g3b4880178ff_0_0"/>
          <p:cNvSpPr/>
          <p:nvPr/>
        </p:nvSpPr>
        <p:spPr>
          <a:xfrm>
            <a:off x="10009080" y="113040"/>
            <a:ext cx="2051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Jan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Novák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Requirement description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345;p8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Jan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Novák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346;p8"/>
          <p:cNvSpPr/>
          <p:nvPr/>
        </p:nvSpPr>
        <p:spPr>
          <a:xfrm>
            <a:off x="545400" y="1499400"/>
            <a:ext cx="6060960" cy="60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Interoperability requirement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Google Shape;347;p8"/>
          <p:cNvPicPr/>
          <p:nvPr/>
        </p:nvPicPr>
        <p:blipFill>
          <a:blip r:embed="rId2"/>
          <a:stretch/>
        </p:blipFill>
        <p:spPr>
          <a:xfrm>
            <a:off x="498600" y="2131200"/>
            <a:ext cx="6799680" cy="2585160"/>
          </a:xfrm>
          <a:prstGeom prst="rect">
            <a:avLst/>
          </a:prstGeom>
          <a:ln w="0">
            <a:noFill/>
          </a:ln>
        </p:spPr>
      </p:pic>
      <p:pic>
        <p:nvPicPr>
          <p:cNvPr id="335" name="Google Shape;348;p8"/>
          <p:cNvPicPr/>
          <p:nvPr/>
        </p:nvPicPr>
        <p:blipFill>
          <a:blip r:embed="rId3"/>
          <a:stretch/>
        </p:blipFill>
        <p:spPr>
          <a:xfrm>
            <a:off x="2039760" y="4995000"/>
            <a:ext cx="9060120" cy="1191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54;g3b4880178ff_0_9"/>
          <p:cNvPicPr/>
          <p:nvPr/>
        </p:nvPicPr>
        <p:blipFill>
          <a:blip r:embed="rId3"/>
          <a:stretch/>
        </p:blipFill>
        <p:spPr>
          <a:xfrm>
            <a:off x="152280" y="2438280"/>
            <a:ext cx="11886840" cy="1599120"/>
          </a:xfrm>
          <a:prstGeom prst="rect">
            <a:avLst/>
          </a:prstGeom>
          <a:ln w="0">
            <a:noFill/>
          </a:ln>
        </p:spPr>
      </p:pic>
      <p:sp>
        <p:nvSpPr>
          <p:cNvPr id="337" name="Google Shape;355;g3b4880178ff_0_9"/>
          <p:cNvSpPr/>
          <p:nvPr/>
        </p:nvSpPr>
        <p:spPr>
          <a:xfrm>
            <a:off x="10009080" y="113040"/>
            <a:ext cx="2051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Jan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Novák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61;g3b4880178ff_0_15"/>
          <p:cNvSpPr/>
          <p:nvPr/>
        </p:nvSpPr>
        <p:spPr>
          <a:xfrm>
            <a:off x="10009080" y="113040"/>
            <a:ext cx="2051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Jan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Novák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9" name="Google Shape;362;g3b4880178ff_0_15"/>
          <p:cNvPicPr/>
          <p:nvPr/>
        </p:nvPicPr>
        <p:blipFill>
          <a:blip r:embed="rId3"/>
          <a:stretch/>
        </p:blipFill>
        <p:spPr>
          <a:xfrm>
            <a:off x="582480" y="1920960"/>
            <a:ext cx="6133680" cy="4571640"/>
          </a:xfrm>
          <a:prstGeom prst="rect">
            <a:avLst/>
          </a:prstGeom>
          <a:ln w="0">
            <a:noFill/>
          </a:ln>
        </p:spPr>
      </p:pic>
      <p:sp>
        <p:nvSpPr>
          <p:cNvPr id="340" name="Google Shape;363;g3b4880178ff_0_15"/>
          <p:cNvSpPr/>
          <p:nvPr/>
        </p:nvSpPr>
        <p:spPr>
          <a:xfrm>
            <a:off x="199080" y="681480"/>
            <a:ext cx="1026576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Play"/>
                <a:ea typeface="Play"/>
              </a:rPr>
              <a:t>Existing architecture – container view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364;g3b4880178ff_0_15"/>
          <p:cNvSpPr/>
          <p:nvPr/>
        </p:nvSpPr>
        <p:spPr>
          <a:xfrm>
            <a:off x="7309080" y="2265120"/>
            <a:ext cx="4299120" cy="40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changes happen mainly on L4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from the container point of view we only add new interaction between SIS and Application core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SIS fetches data from Room Availability Service component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831960" y="110952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  <a:ea typeface="Arial"/>
              </a:rPr>
              <a:t>Notification worker require log into database</a:t>
            </a:r>
            <a:endParaRPr lang="en-US" sz="4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339;g3b4880178ff_0_ 2"/>
          <p:cNvSpPr/>
          <p:nvPr/>
        </p:nvSpPr>
        <p:spPr>
          <a:xfrm>
            <a:off x="10009080" y="113040"/>
            <a:ext cx="2051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Vojtěch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Štěpán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chemeClr val="dk1"/>
                </a:solidFill>
                <a:latin typeface="Play"/>
                <a:ea typeface="Play"/>
              </a:rPr>
              <a:t>Requirement description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345;p 2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Vojtěch	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Štěpán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346;p 2"/>
          <p:cNvSpPr/>
          <p:nvPr/>
        </p:nvSpPr>
        <p:spPr>
          <a:xfrm>
            <a:off x="545400" y="1499400"/>
            <a:ext cx="6060960" cy="36317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/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Source of stimulus: </a:t>
            </a:r>
            <a:r>
              <a:rPr lang="en-US" sz="2800" spc="-1">
                <a:solidFill>
                  <a:srgbClr val="000000"/>
                </a:solidFill>
                <a:latin typeface="Arial"/>
                <a:ea typeface="Arial"/>
              </a:rPr>
              <a:t>Notification</a:t>
            </a:r>
            <a:r>
              <a:rPr lang="en-US" sz="2800" spc="-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800" spc="-1">
                <a:solidFill>
                  <a:srgbClr val="000000"/>
                </a:solidFill>
                <a:ea typeface="+mn-lt"/>
                <a:cs typeface="+mn-lt"/>
              </a:rPr>
              <a:t>worker</a:t>
            </a:r>
            <a:endParaRPr lang="en-US" sz="2800" b="0" strike="noStrike" spc="-1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Stimulus: </a:t>
            </a:r>
            <a:r>
              <a:rPr lang="en-US" sz="2800" spc="-1">
                <a:solidFill>
                  <a:srgbClr val="000000"/>
                </a:solidFill>
                <a:ea typeface="+mn-lt"/>
                <a:cs typeface="+mn-lt"/>
              </a:rPr>
              <a:t>Unable to write log</a:t>
            </a:r>
            <a:endParaRPr lang="en-US" sz="2800" b="0" strike="noStrike" spc="-1">
              <a:solidFill>
                <a:srgbClr val="000000"/>
              </a:solidFill>
              <a:latin typeface="Courier New"/>
              <a:ea typeface="+mn-lt"/>
              <a:cs typeface="Courier New"/>
            </a:endParaRPr>
          </a:p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 err="1">
                <a:solidFill>
                  <a:srgbClr val="000000"/>
                </a:solidFill>
                <a:latin typeface="Arial"/>
                <a:ea typeface="Arial"/>
              </a:rPr>
              <a:t>Enviroment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lang="en-US" sz="2800" b="0" strike="noStrike" spc="-1" dirty="0">
                <a:solidFill>
                  <a:srgbClr val="000000"/>
                </a:solidFill>
                <a:ea typeface="+mn-lt"/>
                <a:cs typeface="+mn-lt"/>
              </a:rPr>
              <a:t>Normal operation</a:t>
            </a:r>
            <a:endParaRPr lang="en-US" sz="2800" b="0" strike="noStrike" spc="-1">
              <a:solidFill>
                <a:srgbClr val="000000"/>
              </a:solidFill>
              <a:latin typeface="Courier New"/>
              <a:ea typeface="+mn-lt"/>
              <a:cs typeface="Courier New"/>
            </a:endParaRPr>
          </a:p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Artifact: </a:t>
            </a:r>
            <a:r>
              <a:rPr lang="en-US" sz="2800" spc="-1">
                <a:solidFill>
                  <a:srgbClr val="000000"/>
                </a:solidFill>
                <a:ea typeface="+mn-lt"/>
                <a:cs typeface="+mn-lt"/>
              </a:rPr>
              <a:t>Exam</a:t>
            </a:r>
            <a:r>
              <a:rPr lang="en-US" sz="2800" spc="-1"/>
              <a:t> database</a:t>
            </a:r>
            <a:endParaRPr lang="en-US" sz="2800" b="0" strike="noStrike" spc="-1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Response: </a:t>
            </a:r>
            <a:r>
              <a:rPr lang="en-US" sz="2800" spc="-1">
                <a:solidFill>
                  <a:srgbClr val="000000"/>
                </a:solidFill>
                <a:ea typeface="+mn-lt"/>
                <a:cs typeface="+mn-lt"/>
              </a:rPr>
              <a:t>Recover</a:t>
            </a:r>
            <a:r>
              <a:rPr lang="en-US" sz="2800" spc="-1"/>
              <a:t> log</a:t>
            </a:r>
            <a:endParaRPr lang="en-US" sz="2800" spc="-1">
              <a:latin typeface="Courier New"/>
              <a:cs typeface="Courier New"/>
            </a:endParaRPr>
          </a:p>
          <a:p>
            <a:pPr marL="457200" indent="-406400">
              <a:buClr>
                <a:srgbClr val="000000"/>
              </a:buClr>
              <a:buFont typeface="Arial"/>
              <a:buChar char="●"/>
            </a:pPr>
            <a:r>
              <a:rPr lang="en-US" sz="28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Meassurement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lang="en-US" sz="2800" spc="-1" dirty="0">
                <a:ea typeface="+mn-lt"/>
                <a:cs typeface="+mn-lt"/>
              </a:rPr>
              <a:t>24 hours downtime</a:t>
            </a:r>
            <a:endParaRPr lang="en-US" sz="2800" spc="-1">
              <a:latin typeface="Courier New"/>
              <a:ea typeface="+mn-lt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Play"/>
                <a:ea typeface="Play"/>
              </a:rPr>
              <a:t>Solution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345;p 3"/>
          <p:cNvSpPr/>
          <p:nvPr/>
        </p:nvSpPr>
        <p:spPr>
          <a:xfrm>
            <a:off x="10009080" y="113040"/>
            <a:ext cx="20516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Vojtěch	</a:t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Štěpán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346;p 3"/>
          <p:cNvSpPr/>
          <p:nvPr/>
        </p:nvSpPr>
        <p:spPr>
          <a:xfrm>
            <a:off x="545400" y="1499400"/>
            <a:ext cx="6060960" cy="60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0" name="Picture 349"/>
          <p:cNvPicPr/>
          <p:nvPr/>
        </p:nvPicPr>
        <p:blipFill>
          <a:blip r:embed="rId2"/>
          <a:stretch/>
        </p:blipFill>
        <p:spPr>
          <a:xfrm>
            <a:off x="1143000" y="1870920"/>
            <a:ext cx="9601200" cy="487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5;p 2">
            <a:extLst>
              <a:ext uri="{FF2B5EF4-FFF2-40B4-BE49-F238E27FC236}">
                <a16:creationId xmlns:a16="http://schemas.microsoft.com/office/drawing/2014/main" id="{97F08BFC-608A-2C2C-AD5E-D422441442FB}"/>
              </a:ext>
            </a:extLst>
          </p:cNvPr>
          <p:cNvSpPr/>
          <p:nvPr/>
        </p:nvSpPr>
        <p:spPr>
          <a:xfrm>
            <a:off x="10009080" y="113040"/>
            <a:ext cx="2051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Vojtech </a:t>
            </a:r>
            <a:r>
              <a:rPr lang="en-US" spc="-1" dirty="0" err="1">
                <a:solidFill>
                  <a:srgbClr val="000000"/>
                </a:solidFill>
                <a:latin typeface="Arial"/>
              </a:rPr>
              <a:t>Gáborík</a:t>
            </a:r>
            <a:endParaRPr lang="en-US" sz="18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3AF39663-E94F-949F-1F0D-112B28A3EC35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spc="-1">
                <a:solidFill>
                  <a:schemeClr val="dk1"/>
                </a:solidFill>
                <a:latin typeface="Play"/>
                <a:ea typeface="Play"/>
              </a:rPr>
              <a:t>Requirement description</a:t>
            </a:r>
            <a:endParaRPr lang="en-US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0F-34AD-3585-3913-E2B40B4C0288}"/>
              </a:ext>
            </a:extLst>
          </p:cNvPr>
          <p:cNvSpPr txBox="1"/>
          <p:nvPr/>
        </p:nvSpPr>
        <p:spPr>
          <a:xfrm>
            <a:off x="840156" y="1869453"/>
            <a:ext cx="10319045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of stimulus: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Student</a:t>
            </a:r>
            <a:endParaRPr lang="en-US" sz="24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Stimulus: School Information System (SIS) becomes unavailable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orresponds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too slowly (timeouts).</a:t>
            </a:r>
            <a:r>
              <a:rPr lang="en-US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Enviroment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 Normal operation (peak usage, exam-period week)</a:t>
            </a:r>
            <a:r>
              <a:rPr lang="en-US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Artifact: Application Core</a:t>
            </a:r>
            <a:r>
              <a:rPr lang="en-US"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Response: EXA continues to serve exam registration and exam-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termbrowsing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using the last known SIS master-data snapshot; if a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requireddatum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is missing, EXA fails fast with a clear “SIS temporarily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unavailable”message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lvl="0" indent="-406400" algn="l" rtl="0">
              <a:buFont typeface="Arial,Sans-Serif"/>
              <a:buChar char="●"/>
            </a:pPr>
            <a:endParaRPr lang="en-US" sz="2400" b="0" i="0" u="none" strike="noStrike" baseline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6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0C1917D-782E-4011-8D86-9C7922E3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401" y="1615383"/>
            <a:ext cx="10632393" cy="4951832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F2477610-DE2E-F10C-EE52-9A5C7F4A51FA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spc="-1">
                <a:solidFill>
                  <a:srgbClr val="000000"/>
                </a:solidFill>
                <a:latin typeface="Play"/>
                <a:ea typeface="Play"/>
              </a:rPr>
              <a:t>Solution</a:t>
            </a:r>
            <a:endParaRPr lang="en-US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345;p 2">
            <a:extLst>
              <a:ext uri="{FF2B5EF4-FFF2-40B4-BE49-F238E27FC236}">
                <a16:creationId xmlns:a16="http://schemas.microsoft.com/office/drawing/2014/main" id="{FAF316DA-8E3A-D893-8C39-383287CB7FDB}"/>
              </a:ext>
            </a:extLst>
          </p:cNvPr>
          <p:cNvSpPr/>
          <p:nvPr/>
        </p:nvSpPr>
        <p:spPr>
          <a:xfrm>
            <a:off x="10009080" y="113040"/>
            <a:ext cx="2051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Vojtech </a:t>
            </a:r>
            <a:r>
              <a:rPr lang="en-US" spc="-1" dirty="0" err="1">
                <a:solidFill>
                  <a:srgbClr val="000000"/>
                </a:solidFill>
                <a:latin typeface="Arial"/>
              </a:rPr>
              <a:t>Gáborík</a:t>
            </a:r>
            <a:endParaRPr lang="en-US" sz="18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50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5;p 2">
            <a:extLst>
              <a:ext uri="{FF2B5EF4-FFF2-40B4-BE49-F238E27FC236}">
                <a16:creationId xmlns:a16="http://schemas.microsoft.com/office/drawing/2014/main" id="{E3110E40-BEC1-0EAB-0C8B-181982A5001E}"/>
              </a:ext>
            </a:extLst>
          </p:cNvPr>
          <p:cNvSpPr/>
          <p:nvPr/>
        </p:nvSpPr>
        <p:spPr>
          <a:xfrm>
            <a:off x="10009080" y="113040"/>
            <a:ext cx="2051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Vojtech </a:t>
            </a:r>
            <a:r>
              <a:rPr lang="en-US" spc="-1" dirty="0" err="1">
                <a:solidFill>
                  <a:srgbClr val="000000"/>
                </a:solidFill>
                <a:latin typeface="Arial"/>
              </a:rPr>
              <a:t>Gáborík</a:t>
            </a:r>
            <a:endParaRPr lang="en-US" sz="18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404E7CE4-8965-74A4-7C78-9C1803AF677B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spc="-1">
                <a:solidFill>
                  <a:schemeClr val="dk1"/>
                </a:solidFill>
                <a:latin typeface="Play"/>
                <a:ea typeface="Play"/>
              </a:rPr>
              <a:t>Requirement description</a:t>
            </a:r>
            <a:endParaRPr lang="en-US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B60273-39F4-0318-9165-C3257B7486E8}"/>
              </a:ext>
            </a:extLst>
          </p:cNvPr>
          <p:cNvSpPr txBox="1"/>
          <p:nvPr/>
        </p:nvSpPr>
        <p:spPr>
          <a:xfrm>
            <a:off x="769122" y="1385131"/>
            <a:ext cx="10319045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06400">
              <a:buFont typeface="Arial,Sans-Serif"/>
              <a:buChar char="●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of stimulus: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School management / product owner</a:t>
            </a:r>
            <a:endParaRPr lang="en-US" sz="2400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indent="-406400">
              <a:buFont typeface="Arial,Sans-Serif"/>
              <a:buChar char="●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Stimulus: 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Add a new notification delivery channel </a:t>
            </a:r>
            <a:r>
              <a:rPr lang="en-US" sz="2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(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e.g., SMS or push notifications</a:t>
            </a:r>
            <a:r>
              <a:rPr lang="en-US" sz="24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)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in addition to e-mail</a:t>
            </a:r>
            <a:endParaRPr lang="en-US" sz="24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457200" indent="-406400">
              <a:buFont typeface="Arial,Sans-Serif"/>
              <a:buChar char="●"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Enviroment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Design time</a:t>
            </a:r>
            <a:endParaRPr lang="en-US" sz="24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indent="-406400">
              <a:buFont typeface="Arial,Sans-Serif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Artifact: 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Notification Worker (notification subsystem)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indent="-406400">
              <a:buFont typeface="Arial,Sans-Serif"/>
              <a:buChar char="●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Response: 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The new delivery channel is implemented </a:t>
            </a:r>
            <a:r>
              <a:rPr lang="en-US" sz="2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and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enabled without modifying </a:t>
            </a:r>
            <a:r>
              <a:rPr lang="en-US" sz="2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existing notifiers. Existing e-mail notifications keep working unchanged</a:t>
            </a:r>
            <a:r>
              <a:rPr lang="en-US" sz="2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400" b="0" i="0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 lvl="0" indent="-406400" algn="l" rtl="0">
              <a:buFont typeface="Arial,Sans-Serif"/>
              <a:buChar char="●"/>
            </a:pPr>
            <a:r>
              <a:rPr lang="en-US" sz="2400" b="0" i="0" u="none" strike="noStrike" baseline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Meassurement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 </a:t>
            </a:r>
            <a:r>
              <a:rPr lang="en-US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indent="-406400">
              <a:buFont typeface="Arial,Sans-Serif"/>
              <a:buChar char="●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≤ 1 man-month of development + testing</a:t>
            </a:r>
            <a:endParaRPr lang="en-US" sz="2400" b="0" i="0" u="none" strike="noStrike" baseline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3477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FF2B5EF4-FFF2-40B4-BE49-F238E27FC236}">
                <a16:creationId xmlns:a16="http://schemas.microsoft.com/office/drawing/2014/main" id="{1796C4BB-C0C8-5C89-E29C-A103A6BB4427}"/>
              </a:ext>
            </a:extLst>
          </p:cNvPr>
          <p:cNvSpPr txBox="1">
            <a:spLocks/>
          </p:cNvSpPr>
          <p:nvPr/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0" algn="l"/>
              </a:tabLst>
            </a:pPr>
            <a:r>
              <a:rPr lang="en-US" spc="-1">
                <a:solidFill>
                  <a:srgbClr val="000000"/>
                </a:solidFill>
                <a:latin typeface="Play"/>
                <a:ea typeface="Play"/>
              </a:rPr>
              <a:t>Solution</a:t>
            </a:r>
            <a:endParaRPr lang="en-US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A5F53990-5AA7-27E5-49D7-2B1888EFC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158" y="1600779"/>
            <a:ext cx="6885685" cy="4518144"/>
          </a:xfrm>
          <a:prstGeom prst="rect">
            <a:avLst/>
          </a:prstGeom>
        </p:spPr>
      </p:pic>
      <p:sp>
        <p:nvSpPr>
          <p:cNvPr id="5" name="Google Shape;345;p 2">
            <a:extLst>
              <a:ext uri="{FF2B5EF4-FFF2-40B4-BE49-F238E27FC236}">
                <a16:creationId xmlns:a16="http://schemas.microsoft.com/office/drawing/2014/main" id="{0F6F815D-7B4B-1B53-7DB8-EC87601E162B}"/>
              </a:ext>
            </a:extLst>
          </p:cNvPr>
          <p:cNvSpPr/>
          <p:nvPr/>
        </p:nvSpPr>
        <p:spPr>
          <a:xfrm>
            <a:off x="10009080" y="113040"/>
            <a:ext cx="20516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Vojtech </a:t>
            </a:r>
            <a:r>
              <a:rPr lang="en-US" spc="-1" dirty="0" err="1">
                <a:solidFill>
                  <a:srgbClr val="000000"/>
                </a:solidFill>
                <a:latin typeface="Arial"/>
              </a:rPr>
              <a:t>Gáborík</a:t>
            </a:r>
            <a:endParaRPr lang="en-US" sz="1800" b="0" strike="noStrike" spc="-1" dirty="0" err="1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400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Microsoft Office PowerPoint</Application>
  <PresentationFormat>Widescreen</PresentationFormat>
  <Slides>18</Slides>
  <Notes>5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Office Theme</vt:lpstr>
      <vt:lpstr>Office Theme</vt:lpstr>
      <vt:lpstr>Office Theme</vt:lpstr>
      <vt:lpstr>Exams 1 – Milestone2</vt:lpstr>
      <vt:lpstr>Administrator wants to change the database</vt:lpstr>
      <vt:lpstr>Requirement description</vt:lpstr>
      <vt:lpstr>Existing architecture – container view</vt:lpstr>
      <vt:lpstr>Notification Worker -&gt; Exam database</vt:lpstr>
      <vt:lpstr>Application Core -&gt; Exam Database</vt:lpstr>
      <vt:lpstr>Change: Statistics service</vt:lpstr>
      <vt:lpstr>School Information System requests data for room availability</vt:lpstr>
      <vt:lpstr>Requirement description</vt:lpstr>
      <vt:lpstr>PowerPoint Presentation</vt:lpstr>
      <vt:lpstr>PowerPoint Presentation</vt:lpstr>
      <vt:lpstr>Notification worker require log into database</vt:lpstr>
      <vt:lpstr>Requirement description</vt:lpstr>
      <vt:lpstr>Solution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Veronika Kavanová</dc:creator>
  <dc:description/>
  <cp:lastModifiedBy/>
  <cp:revision>67</cp:revision>
  <dcterms:created xsi:type="dcterms:W3CDTF">2026-01-04T11:02:43Z</dcterms:created>
  <dcterms:modified xsi:type="dcterms:W3CDTF">2026-01-05T09:21:11Z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