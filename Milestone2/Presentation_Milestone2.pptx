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61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6858000" cx="12192000"/>
  <p:notesSz cx="6858000" cy="9144000"/>
  <p:embeddedFontLst>
    <p:embeddedFont>
      <p:font typeface="Play"/>
      <p:regular r:id="rId18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jl4rxDdtHsMivlPBa2rgBi7CiX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3.xml"/><Relationship Id="rId19" Type="http://schemas.openxmlformats.org/officeDocument/2006/relationships/font" Target="fonts/Play-bold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Play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:notes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:notes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:notes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:notes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:notes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3:notes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2" name="Google Shape;302;p4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4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5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0" name="Google Shape;310;p5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5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6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0" name="Google Shape;320;p6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6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7:notes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7:notes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b4880178ff_0_0:notes"/>
          <p:cNvSpPr txBox="1"/>
          <p:nvPr>
            <p:ph idx="1" type="body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g3b4880178ff_0_0:notes"/>
          <p:cNvSpPr/>
          <p:nvPr>
            <p:ph idx="2" type="sldImg"/>
          </p:nvPr>
        </p:nvSpPr>
        <p:spPr>
          <a:xfrm>
            <a:off x="216000" y="812520"/>
            <a:ext cx="7127400" cy="4008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8:notes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8:notes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b4880178ff_0_9:notes"/>
          <p:cNvSpPr/>
          <p:nvPr>
            <p:ph idx="2" type="sldImg"/>
          </p:nvPr>
        </p:nvSpPr>
        <p:spPr>
          <a:xfrm>
            <a:off x="216000" y="812520"/>
            <a:ext cx="7127400" cy="4008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b4880178ff_0_9:notes"/>
          <p:cNvSpPr txBox="1"/>
          <p:nvPr>
            <p:ph idx="1" type="body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g3b4880178ff_0_9:notes"/>
          <p:cNvSpPr txBox="1"/>
          <p:nvPr>
            <p:ph idx="12" type="sldNum"/>
          </p:nvPr>
        </p:nvSpPr>
        <p:spPr>
          <a:xfrm>
            <a:off x="4278960" y="10157400"/>
            <a:ext cx="3280800" cy="534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b4880178ff_0_15:notes"/>
          <p:cNvSpPr/>
          <p:nvPr>
            <p:ph idx="2" type="sldImg"/>
          </p:nvPr>
        </p:nvSpPr>
        <p:spPr>
          <a:xfrm>
            <a:off x="216000" y="812520"/>
            <a:ext cx="7127400" cy="4008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b4880178ff_0_15:notes"/>
          <p:cNvSpPr txBox="1"/>
          <p:nvPr>
            <p:ph idx="1" type="body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g3b4880178ff_0_15:notes"/>
          <p:cNvSpPr txBox="1"/>
          <p:nvPr>
            <p:ph idx="12" type="sldNum"/>
          </p:nvPr>
        </p:nvSpPr>
        <p:spPr>
          <a:xfrm>
            <a:off x="4278960" y="10157400"/>
            <a:ext cx="3280800" cy="534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0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0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6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"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6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7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" type="body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7"/>
          <p:cNvSpPr txBox="1"/>
          <p:nvPr>
            <p:ph idx="2" type="body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7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8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2" name="Google Shape;42;p18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9"/>
          <p:cNvSpPr txBox="1"/>
          <p:nvPr>
            <p:ph idx="1"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9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2" type="body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20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1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" type="body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3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1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1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21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2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2"/>
          <p:cNvSpPr txBox="1"/>
          <p:nvPr>
            <p:ph idx="3" type="body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2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3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3"/>
          <p:cNvSpPr txBox="1"/>
          <p:nvPr>
            <p:ph idx="1" type="body"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3"/>
          <p:cNvSpPr txBox="1"/>
          <p:nvPr>
            <p:ph idx="2" type="body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23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4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4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4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4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4"/>
          <p:cNvSpPr txBox="1"/>
          <p:nvPr>
            <p:ph idx="4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24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4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24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5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25"/>
          <p:cNvSpPr txBox="1"/>
          <p:nvPr>
            <p:ph idx="1" type="body"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5"/>
          <p:cNvSpPr txBox="1"/>
          <p:nvPr>
            <p:ph idx="2" type="body"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25"/>
          <p:cNvSpPr txBox="1"/>
          <p:nvPr>
            <p:ph idx="3" type="body"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25"/>
          <p:cNvSpPr txBox="1"/>
          <p:nvPr>
            <p:ph idx="4" type="body"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25"/>
          <p:cNvSpPr txBox="1"/>
          <p:nvPr>
            <p:ph idx="5" type="body"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5"/>
          <p:cNvSpPr txBox="1"/>
          <p:nvPr>
            <p:ph idx="6" type="body"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5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5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8" name="Google Shape;98;p25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2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8" name="Google Shape;108;p12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6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6"/>
          <p:cNvSpPr txBox="1"/>
          <p:nvPr>
            <p:ph idx="1"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26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26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4" name="Google Shape;114;p26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7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7"/>
          <p:cNvSpPr txBox="1"/>
          <p:nvPr>
            <p:ph idx="1"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7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27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0" name="Google Shape;120;p27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8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28"/>
          <p:cNvSpPr txBox="1"/>
          <p:nvPr>
            <p:ph idx="1" type="body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28"/>
          <p:cNvSpPr txBox="1"/>
          <p:nvPr>
            <p:ph idx="2" type="body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28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28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7" name="Google Shape;127;p28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9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29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9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2" name="Google Shape;132;p29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0"/>
          <p:cNvSpPr txBox="1"/>
          <p:nvPr>
            <p:ph idx="1"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0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30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7" name="Google Shape;137;p30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31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31"/>
          <p:cNvSpPr txBox="1"/>
          <p:nvPr>
            <p:ph idx="2" type="body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31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31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31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31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2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2"/>
          <p:cNvSpPr txBox="1"/>
          <p:nvPr>
            <p:ph idx="1" type="body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32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3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p32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32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3" name="Google Shape;153;p32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3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33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33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33"/>
          <p:cNvSpPr txBox="1"/>
          <p:nvPr>
            <p:ph idx="3" type="body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33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33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1" name="Google Shape;161;p33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4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34"/>
          <p:cNvSpPr txBox="1"/>
          <p:nvPr>
            <p:ph idx="1" type="body"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34"/>
          <p:cNvSpPr txBox="1"/>
          <p:nvPr>
            <p:ph idx="2" type="body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34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34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8" name="Google Shape;168;p34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5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35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35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35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35"/>
          <p:cNvSpPr txBox="1"/>
          <p:nvPr>
            <p:ph idx="4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5" name="Google Shape;175;p35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35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7" name="Google Shape;177;p35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6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36"/>
          <p:cNvSpPr txBox="1"/>
          <p:nvPr>
            <p:ph idx="1" type="body"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36"/>
          <p:cNvSpPr txBox="1"/>
          <p:nvPr>
            <p:ph idx="2" type="body"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36"/>
          <p:cNvSpPr txBox="1"/>
          <p:nvPr>
            <p:ph idx="3" type="body"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3" name="Google Shape;183;p36"/>
          <p:cNvSpPr txBox="1"/>
          <p:nvPr>
            <p:ph idx="4" type="body"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4" name="Google Shape;184;p36"/>
          <p:cNvSpPr txBox="1"/>
          <p:nvPr>
            <p:ph idx="5" type="body"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5" name="Google Shape;185;p36"/>
          <p:cNvSpPr txBox="1"/>
          <p:nvPr>
            <p:ph idx="6" type="body"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6" name="Google Shape;186;p36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36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8" name="Google Shape;188;p36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4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7" name="Google Shape;197;p14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8" name="Google Shape;198;p14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7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37"/>
          <p:cNvSpPr txBox="1"/>
          <p:nvPr>
            <p:ph idx="1"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2" name="Google Shape;202;p37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37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4" name="Google Shape;204;p37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8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38"/>
          <p:cNvSpPr txBox="1"/>
          <p:nvPr>
            <p:ph idx="1"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38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9" name="Google Shape;209;p38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0" name="Google Shape;210;p38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9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3" name="Google Shape;213;p39"/>
          <p:cNvSpPr txBox="1"/>
          <p:nvPr>
            <p:ph idx="1" type="body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39"/>
          <p:cNvSpPr txBox="1"/>
          <p:nvPr>
            <p:ph idx="2" type="body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39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7" name="Google Shape;217;p39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40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2" name="Google Shape;222;p40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 txBox="1"/>
          <p:nvPr>
            <p:ph idx="1"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1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1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2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3" name="Google Shape;233;p42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2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5" name="Google Shape;235;p42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3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43"/>
          <p:cNvSpPr txBox="1"/>
          <p:nvPr>
            <p:ph idx="1" type="body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9" name="Google Shape;239;p43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0" name="Google Shape;240;p43"/>
          <p:cNvSpPr txBox="1"/>
          <p:nvPr>
            <p:ph idx="3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43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2" name="Google Shape;242;p43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3" name="Google Shape;243;p43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4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44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44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8" name="Google Shape;248;p44"/>
          <p:cNvSpPr txBox="1"/>
          <p:nvPr>
            <p:ph idx="3" type="body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9" name="Google Shape;249;p44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1" name="Google Shape;251;p44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45"/>
          <p:cNvSpPr txBox="1"/>
          <p:nvPr>
            <p:ph idx="1" type="body"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5" name="Google Shape;255;p45"/>
          <p:cNvSpPr txBox="1"/>
          <p:nvPr>
            <p:ph idx="2" type="body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6" name="Google Shape;256;p45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8" name="Google Shape;258;p45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6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1" name="Google Shape;261;p46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46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46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4" name="Google Shape;264;p46"/>
          <p:cNvSpPr txBox="1"/>
          <p:nvPr>
            <p:ph idx="4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46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46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7" name="Google Shape;267;p46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7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0" name="Google Shape;270;p47"/>
          <p:cNvSpPr txBox="1"/>
          <p:nvPr>
            <p:ph idx="1" type="body"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47"/>
          <p:cNvSpPr txBox="1"/>
          <p:nvPr>
            <p:ph idx="2" type="body"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47"/>
          <p:cNvSpPr txBox="1"/>
          <p:nvPr>
            <p:ph idx="3" type="body"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3" name="Google Shape;273;p47"/>
          <p:cNvSpPr txBox="1"/>
          <p:nvPr>
            <p:ph idx="4" type="body"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4" name="Google Shape;274;p47"/>
          <p:cNvSpPr txBox="1"/>
          <p:nvPr>
            <p:ph idx="5" type="body"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47"/>
          <p:cNvSpPr txBox="1"/>
          <p:nvPr>
            <p:ph idx="6" type="body"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6" name="Google Shape;276;p47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7" name="Google Shape;277;p47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sz="1200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8" name="Google Shape;278;p47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/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" name="Google Shape;11;p9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" name="Google Shape;12;p9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" name="Google Shape;13;p9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" name="Google Shape;14;p9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1"/>
          <p:cNvSpPr txBox="1"/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1" name="Google Shape;101;p11"/>
          <p:cNvSpPr txBox="1"/>
          <p:nvPr>
            <p:ph idx="1"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2" name="Google Shape;102;p11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3" name="Google Shape;103;p11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4" name="Google Shape;104;p11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3"/>
          <p:cNvSpPr txBox="1"/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91" name="Google Shape;191;p13"/>
          <p:cNvSpPr txBox="1"/>
          <p:nvPr>
            <p:ph idx="1"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92" name="Google Shape;192;p13"/>
          <p:cNvSpPr txBox="1"/>
          <p:nvPr>
            <p:ph idx="10"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93" name="Google Shape;193;p13"/>
          <p:cNvSpPr txBox="1"/>
          <p:nvPr>
            <p:ph idx="11"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94" name="Google Shape;194;p13"/>
          <p:cNvSpPr txBox="1"/>
          <p:nvPr>
            <p:ph idx="12"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78787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8787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"/>
          <p:cNvSpPr txBox="1"/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</a:pPr>
            <a:r>
              <a:rPr b="0" lang="en-US" sz="6000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Exams 1 – Milestone2</a:t>
            </a:r>
            <a:endParaRPr b="0" sz="6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"/>
          <p:cNvSpPr txBox="1"/>
          <p:nvPr>
            <p:ph idx="1"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Team: Enrollments 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1001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Vojto Gáborík , Veronika Kavanová, Jan Novák, Vojtěch Štěpán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"/>
          <p:cNvSpPr txBox="1"/>
          <p:nvPr>
            <p:ph idx="4294967295" type="title"/>
          </p:nvPr>
        </p:nvSpPr>
        <p:spPr>
          <a:xfrm>
            <a:off x="831960" y="1109520"/>
            <a:ext cx="10515240" cy="2852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Play"/>
              <a:buNone/>
            </a:pPr>
            <a:r>
              <a:rPr b="0" i="0" lang="en-US" sz="48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Administrator wants to change the database</a:t>
            </a:r>
            <a:endParaRPr b="0" i="0" sz="4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"/>
          <p:cNvSpPr/>
          <p:nvPr/>
        </p:nvSpPr>
        <p:spPr>
          <a:xfrm>
            <a:off x="10009080" y="113040"/>
            <a:ext cx="205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Veronika Kavanová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"/>
          <p:cNvSpPr txBox="1"/>
          <p:nvPr>
            <p:ph idx="4294967295"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Requirement description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3"/>
          <p:cNvSpPr txBox="1"/>
          <p:nvPr>
            <p:ph idx="4294967295" type="body"/>
          </p:nvPr>
        </p:nvSpPr>
        <p:spPr>
          <a:xfrm>
            <a:off x="838080" y="1690560"/>
            <a:ext cx="10515240" cy="4485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Modifiability requirement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1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"/>
          <p:cNvSpPr/>
          <p:nvPr/>
        </p:nvSpPr>
        <p:spPr>
          <a:xfrm>
            <a:off x="10009080" y="113040"/>
            <a:ext cx="205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Veronika Kavanová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8" name="Google Shape;29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6280" y="2199960"/>
            <a:ext cx="8763840" cy="1228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6280" y="3731400"/>
            <a:ext cx="8402040" cy="26002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"/>
          <p:cNvSpPr txBox="1"/>
          <p:nvPr>
            <p:ph idx="4294967295"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Existing architecture – container view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6" name="Google Shape;30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7920" y="1602720"/>
            <a:ext cx="9417600" cy="423144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4"/>
          <p:cNvSpPr/>
          <p:nvPr/>
        </p:nvSpPr>
        <p:spPr>
          <a:xfrm>
            <a:off x="10009080" y="113040"/>
            <a:ext cx="205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Veronika Kavanová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5"/>
          <p:cNvSpPr txBox="1"/>
          <p:nvPr>
            <p:ph idx="4294967295"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Notification Worker -&gt; Exam database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5"/>
          <p:cNvSpPr/>
          <p:nvPr/>
        </p:nvSpPr>
        <p:spPr>
          <a:xfrm>
            <a:off x="10009080" y="113040"/>
            <a:ext cx="205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Veronika Kavanová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5" name="Google Shape;31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30480" y="1690560"/>
            <a:ext cx="6077520" cy="435096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5"/>
          <p:cNvSpPr/>
          <p:nvPr/>
        </p:nvSpPr>
        <p:spPr>
          <a:xfrm>
            <a:off x="5349960" y="3263760"/>
            <a:ext cx="2563920" cy="3252960"/>
          </a:xfrm>
          <a:prstGeom prst="ellipse">
            <a:avLst/>
          </a:prstGeom>
          <a:noFill/>
          <a:ln cap="flat" cmpd="sng" w="25400">
            <a:solidFill>
              <a:srgbClr val="196B24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5"/>
          <p:cNvSpPr/>
          <p:nvPr/>
        </p:nvSpPr>
        <p:spPr>
          <a:xfrm>
            <a:off x="7720560" y="2055600"/>
            <a:ext cx="3717000" cy="22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-285840" lvl="0" marL="2858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communication goes through Notification Log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allows for easy changes.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Notification Log can be changed to work with the new database or both of them during the change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"/>
          <p:cNvSpPr txBox="1"/>
          <p:nvPr>
            <p:ph idx="4294967295"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Application Core -&gt; Exam Database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4" name="Google Shape;32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3000" y="1541520"/>
            <a:ext cx="9605520" cy="495108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6"/>
          <p:cNvSpPr/>
          <p:nvPr/>
        </p:nvSpPr>
        <p:spPr>
          <a:xfrm>
            <a:off x="3481560" y="3340440"/>
            <a:ext cx="2732040" cy="3345120"/>
          </a:xfrm>
          <a:prstGeom prst="ellipse">
            <a:avLst/>
          </a:prstGeom>
          <a:noFill/>
          <a:ln cap="flat" cmpd="sng" w="25400">
            <a:solidFill>
              <a:srgbClr val="196B24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6"/>
          <p:cNvSpPr/>
          <p:nvPr/>
        </p:nvSpPr>
        <p:spPr>
          <a:xfrm>
            <a:off x="9969840" y="1565280"/>
            <a:ext cx="2143080" cy="2558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-285840" lvl="0" marL="2858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communication goes through Exam Repository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Database access is abstracted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7"/>
          <p:cNvSpPr txBox="1"/>
          <p:nvPr>
            <p:ph idx="4294967295"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Change: Statistics service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2" name="Google Shape;33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51000" y="1572840"/>
            <a:ext cx="3276000" cy="45882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7"/>
          <p:cNvSpPr/>
          <p:nvPr/>
        </p:nvSpPr>
        <p:spPr>
          <a:xfrm>
            <a:off x="6095880" y="1851480"/>
            <a:ext cx="5082840" cy="374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-285840" lvl="0" marL="2858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Split Statistics Service into two components: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Statistics Service now only deals with business logic – calculating results and building reports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Statistics Repository deals with the communication with the Exam Database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Database access is again abstracted and easily changed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b4880178ff_0_0"/>
          <p:cNvSpPr txBox="1"/>
          <p:nvPr>
            <p:ph idx="4294967295" type="title"/>
          </p:nvPr>
        </p:nvSpPr>
        <p:spPr>
          <a:xfrm>
            <a:off x="831960" y="1109520"/>
            <a:ext cx="10515300" cy="28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Play"/>
              <a:buNone/>
            </a:pPr>
            <a:r>
              <a:rPr lang="en-US" sz="4800"/>
              <a:t>School Information System requests data for room availability</a:t>
            </a:r>
            <a:endParaRPr b="0" i="0" sz="4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g3b4880178ff_0_0"/>
          <p:cNvSpPr/>
          <p:nvPr/>
        </p:nvSpPr>
        <p:spPr>
          <a:xfrm>
            <a:off x="10009080" y="113040"/>
            <a:ext cx="20520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Jan</a:t>
            </a:r>
            <a:br>
              <a:rPr lang="en-US" sz="1800"/>
            </a:br>
            <a:r>
              <a:rPr lang="en-US" sz="1800"/>
              <a:t>Novák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8"/>
          <p:cNvSpPr txBox="1"/>
          <p:nvPr>
            <p:ph idx="4294967295"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Requirement description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8"/>
          <p:cNvSpPr/>
          <p:nvPr/>
        </p:nvSpPr>
        <p:spPr>
          <a:xfrm>
            <a:off x="10009080" y="113040"/>
            <a:ext cx="205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br>
              <a:rPr b="0" i="0" lang="en-US" sz="1800" u="none" cap="none" strike="noStrike"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Novák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8"/>
          <p:cNvSpPr txBox="1"/>
          <p:nvPr/>
        </p:nvSpPr>
        <p:spPr>
          <a:xfrm>
            <a:off x="545300" y="1499550"/>
            <a:ext cx="606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 sz="2800"/>
              <a:t>Interoperability requirement</a:t>
            </a:r>
            <a:endParaRPr sz="2800"/>
          </a:p>
        </p:txBody>
      </p:sp>
      <p:pic>
        <p:nvPicPr>
          <p:cNvPr id="347" name="Google Shape;347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8450" y="2131225"/>
            <a:ext cx="6799973" cy="258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39925" y="4994975"/>
            <a:ext cx="9060552" cy="119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Google Shape;354;g3b4880178ff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438400"/>
            <a:ext cx="11887199" cy="1599501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g3b4880178ff_0_9"/>
          <p:cNvSpPr/>
          <p:nvPr/>
        </p:nvSpPr>
        <p:spPr>
          <a:xfrm>
            <a:off x="10009080" y="113040"/>
            <a:ext cx="20520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Jan</a:t>
            </a:r>
            <a:br>
              <a:rPr lang="en-US" sz="1800"/>
            </a:br>
            <a:r>
              <a:rPr lang="en-US" sz="1800"/>
              <a:t>Novák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b4880178ff_0_15"/>
          <p:cNvSpPr/>
          <p:nvPr/>
        </p:nvSpPr>
        <p:spPr>
          <a:xfrm>
            <a:off x="10009080" y="113040"/>
            <a:ext cx="20520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Jan</a:t>
            </a:r>
            <a:br>
              <a:rPr lang="en-US" sz="1800"/>
            </a:br>
            <a:r>
              <a:rPr lang="en-US" sz="1800"/>
              <a:t>Novák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2" name="Google Shape;362;g3b4880178ff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2350" y="1920990"/>
            <a:ext cx="613410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g3b4880178ff_0_15"/>
          <p:cNvSpPr txBox="1"/>
          <p:nvPr/>
        </p:nvSpPr>
        <p:spPr>
          <a:xfrm>
            <a:off x="199250" y="681625"/>
            <a:ext cx="10266000" cy="7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Existing architecture – container view</a:t>
            </a:r>
            <a:endParaRPr/>
          </a:p>
        </p:txBody>
      </p:sp>
      <p:sp>
        <p:nvSpPr>
          <p:cNvPr id="364" name="Google Shape;364;g3b4880178ff_0_15"/>
          <p:cNvSpPr txBox="1"/>
          <p:nvPr/>
        </p:nvSpPr>
        <p:spPr>
          <a:xfrm>
            <a:off x="7308900" y="2265025"/>
            <a:ext cx="4299300" cy="4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changes happen mainly on L4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from the container point of view we only add new interaction between SIS and Application core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SIS fetches data from Room Availability Service component</a:t>
            </a:r>
            <a:endParaRPr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2026-01-04T11:02:43Z</dcterms:created>
  <dc:creator>Veronika Kavanová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